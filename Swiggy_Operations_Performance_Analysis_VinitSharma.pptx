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Restaurants</c:v>
                </c:pt>
              </c:strCache>
            </c:strRef>
          </c:tx>
          <c:spPr>
            <a:solidFill>
              <a:srgbClr val="FC8019"/>
            </a:solidFill>
            <a:effectLst/>
          </c:spPr>
          <c:invertIfNegative val="0"/>
          <c:dLbls>
            <c:numFmt formatCode="#,##0" sourceLinked="0"/>
            <c:txPr>
              <a:bodyPr/>
              <a:lstStyle/>
              <a:p>
                <a:pPr>
                  <a:defRPr b="0" i="0" strike="noStrike" sz="1000" u="none">
                    <a:solidFill>
                      <a:srgbClr val="282C3F"/>
                    </a:solidFill>
                    <a:latin typeface="Arial"/>
                  </a:defRPr>
                </a:pPr>
              </a:p>
            </c:txPr>
            <c:showLegendKey val="0"/>
            <c:showVal val="1"/>
            <c:showCatName val="0"/>
            <c:showSerName val="0"/>
            <c:showPercent val="0"/>
            <c:showBubbleSize val="0"/>
            <c:showLeaderLines val="0"/>
          </c:dLbls>
          <c:cat>
            <c:multiLvlStrRef>
              <c:f>Sheet1!$A$2:$A$10</c:f>
              <c:multiLvlStrCache>
                <c:ptCount val="9"/>
                <c:lvl>
                  <c:pt idx="0">
                    <c:v>Kolkata</c:v>
                  </c:pt>
                  <c:pt idx="1">
                    <c:v>Mumbai</c:v>
                  </c:pt>
                  <c:pt idx="2">
                    <c:v>Chennai</c:v>
                  </c:pt>
                  <c:pt idx="3">
                    <c:v>Pune</c:v>
                  </c:pt>
                  <c:pt idx="4">
                    <c:v>Hyderabad</c:v>
                  </c:pt>
                  <c:pt idx="5">
                    <c:v>Bangalore</c:v>
                  </c:pt>
                  <c:pt idx="6">
                    <c:v>Ahmedabad</c:v>
                  </c:pt>
                  <c:pt idx="7">
                    <c:v>Delhi</c:v>
                  </c:pt>
                  <c:pt idx="8">
                    <c:v>Surat</c:v>
                  </c:pt>
                </c:lvl>
              </c:multiLvlStrCache>
            </c:multiLvlStrRef>
          </c:cat>
          <c:val>
            <c:numRef>
              <c:f>Sheet1!$B$2:$B$10</c:f>
              <c:numCache>
                <c:formatCode>General</c:formatCode>
                <c:ptCount val="9"/>
                <c:pt idx="0">
                  <c:v>1346</c:v>
                </c:pt>
                <c:pt idx="1">
                  <c:v>1277</c:v>
                </c:pt>
                <c:pt idx="2">
                  <c:v>1106</c:v>
                </c:pt>
                <c:pt idx="3">
                  <c:v>1090</c:v>
                </c:pt>
                <c:pt idx="4">
                  <c:v>1075</c:v>
                </c:pt>
                <c:pt idx="5">
                  <c:v>946</c:v>
                </c:pt>
                <c:pt idx="6">
                  <c:v>717</c:v>
                </c:pt>
                <c:pt idx="7">
                  <c:v>611</c:v>
                </c:pt>
                <c:pt idx="8">
                  <c:v>512</c:v>
                </c:pt>
              </c:numCache>
            </c:numRef>
          </c:val>
        </c:ser>
        <c:dLbls>
          <c:numFmt formatCode="#,##0" sourceLinked="0"/>
          <c:txPr>
            <a:bodyPr/>
            <a:lstStyle/>
            <a:p>
              <a:pPr>
                <a:defRPr b="0" i="0" strike="noStrike" sz="1000" u="none">
                  <a:solidFill>
                    <a:srgbClr val="282C3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A2E3F"/>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Delivery Time (min)</c:v>
                </c:pt>
              </c:strCache>
            </c:strRef>
          </c:tx>
          <c:spPr>
            <a:solidFill>
              <a:srgbClr val="D64550">
                <a:alpha val="100000"/>
              </a:srgbClr>
            </a:solidFill>
            <a:effectLst/>
          </c:spPr>
          <c:invertIfNegative val="0"/>
          <c:dLbls>
            <c:numFmt formatCode="#,##0" sourceLinked="0"/>
            <c:txPr>
              <a:bodyPr/>
              <a:lstStyle/>
              <a:p>
                <a:pPr>
                  <a:defRPr b="0" i="0" strike="noStrike" sz="1000" u="none">
                    <a:solidFill>
                      <a:srgbClr val="282C3F"/>
                    </a:solidFill>
                    <a:latin typeface="Arial"/>
                  </a:defRPr>
                </a:pPr>
              </a:p>
            </c:txPr>
            <c:showLegendKey val="0"/>
            <c:showVal val="1"/>
            <c:showCatName val="0"/>
            <c:showSerName val="0"/>
            <c:showPercent val="0"/>
            <c:showBubbleSize val="0"/>
            <c:showLeaderLines val="0"/>
          </c:dLbls>
          <c:dPt>
            <c:idx val="0"/>
            <c:invertIfNegative val="0"/>
            <c:bubble3D val="0"/>
            <c:spPr>
              <a:solidFill>
                <a:srgbClr val="D64550"/>
              </a:solidFill>
              <a:effectLst/>
            </c:spPr>
          </c:dPt>
          <c:dPt>
            <c:idx val="1"/>
            <c:invertIfNegative val="0"/>
            <c:bubble3D val="0"/>
            <c:spPr>
              <a:solidFill>
                <a:srgbClr val="C9CDDA"/>
              </a:solidFill>
              <a:effectLst/>
            </c:spPr>
          </c:dPt>
          <c:dPt>
            <c:idx val="2"/>
            <c:invertIfNegative val="0"/>
            <c:bubble3D val="0"/>
            <c:spPr>
              <a:solidFill>
                <a:srgbClr val="C9CDDA"/>
              </a:solidFill>
              <a:effectLst/>
            </c:spPr>
          </c:dPt>
          <c:dPt>
            <c:idx val="3"/>
            <c:invertIfNegative val="0"/>
            <c:bubble3D val="0"/>
            <c:spPr>
              <a:solidFill>
                <a:srgbClr val="C9CDDA"/>
              </a:solidFill>
              <a:effectLst/>
            </c:spPr>
          </c:dPt>
          <c:dPt>
            <c:idx val="4"/>
            <c:invertIfNegative val="0"/>
            <c:bubble3D val="0"/>
            <c:spPr>
              <a:solidFill>
                <a:srgbClr val="C9CDDA"/>
              </a:solidFill>
              <a:effectLst/>
            </c:spPr>
          </c:dPt>
          <c:dPt>
            <c:idx val="5"/>
            <c:invertIfNegative val="0"/>
            <c:bubble3D val="0"/>
            <c:spPr>
              <a:solidFill>
                <a:srgbClr val="C9CDDA"/>
              </a:solidFill>
              <a:effectLst/>
            </c:spPr>
          </c:dPt>
          <c:dPt>
            <c:idx val="6"/>
            <c:invertIfNegative val="0"/>
            <c:bubble3D val="0"/>
            <c:spPr>
              <a:solidFill>
                <a:srgbClr val="C9CDDA"/>
              </a:solidFill>
              <a:effectLst/>
            </c:spPr>
          </c:dPt>
          <c:dPt>
            <c:idx val="7"/>
            <c:invertIfNegative val="0"/>
            <c:bubble3D val="0"/>
            <c:spPr>
              <a:solidFill>
                <a:srgbClr val="C9CDDA"/>
              </a:solidFill>
              <a:effectLst/>
            </c:spPr>
          </c:dPt>
          <c:dPt>
            <c:idx val="8"/>
            <c:invertIfNegative val="0"/>
            <c:bubble3D val="0"/>
            <c:spPr>
              <a:solidFill>
                <a:srgbClr val="60B246"/>
              </a:solidFill>
              <a:effectLst/>
            </c:spPr>
          </c:dPt>
          <c:cat>
            <c:multiLvlStrRef>
              <c:f>Sheet1!$A$2:$A$10</c:f>
              <c:multiLvlStrCache>
                <c:ptCount val="9"/>
                <c:lvl>
                  <c:pt idx="0">
                    <c:v>Kolkata</c:v>
                  </c:pt>
                  <c:pt idx="1">
                    <c:v>Chennai</c:v>
                  </c:pt>
                  <c:pt idx="2">
                    <c:v>Pune</c:v>
                  </c:pt>
                  <c:pt idx="3">
                    <c:v>Delhi</c:v>
                  </c:pt>
                  <c:pt idx="4">
                    <c:v>Bangalore</c:v>
                  </c:pt>
                  <c:pt idx="5">
                    <c:v>Hyderabad</c:v>
                  </c:pt>
                  <c:pt idx="6">
                    <c:v>Surat</c:v>
                  </c:pt>
                  <c:pt idx="7">
                    <c:v>Mumbai</c:v>
                  </c:pt>
                  <c:pt idx="8">
                    <c:v>Ahmedabad</c:v>
                  </c:pt>
                </c:lvl>
              </c:multiLvlStrCache>
            </c:multiLvlStrRef>
          </c:cat>
          <c:val>
            <c:numRef>
              <c:f>Sheet1!$B$2:$B$10</c:f>
              <c:numCache>
                <c:formatCode>General</c:formatCode>
                <c:ptCount val="9"/>
                <c:pt idx="0">
                  <c:v>67.8</c:v>
                </c:pt>
                <c:pt idx="1">
                  <c:v>59</c:v>
                </c:pt>
                <c:pt idx="2">
                  <c:v>55.9</c:v>
                </c:pt>
                <c:pt idx="3">
                  <c:v>50.7</c:v>
                </c:pt>
                <c:pt idx="4">
                  <c:v>50.5</c:v>
                </c:pt>
                <c:pt idx="5">
                  <c:v>49.9</c:v>
                </c:pt>
                <c:pt idx="6">
                  <c:v>48.5</c:v>
                </c:pt>
                <c:pt idx="7">
                  <c:v>48.3</c:v>
                </c:pt>
                <c:pt idx="8">
                  <c:v>44.7</c:v>
                </c:pt>
              </c:numCache>
            </c:numRef>
          </c:val>
        </c:ser>
        <c:dLbls>
          <c:numFmt formatCode="#,##0" sourceLinked="0"/>
          <c:txPr>
            <a:bodyPr/>
            <a:lstStyle/>
            <a:p>
              <a:pPr>
                <a:defRPr b="0" i="0" strike="noStrike" sz="1000" u="none">
                  <a:solidFill>
                    <a:srgbClr val="282C3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A2E3F"/>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Restaurants</c:v>
                </c:pt>
              </c:strCache>
            </c:strRef>
          </c:tx>
          <c:spPr>
            <a:solidFill>
              <a:srgbClr val="FC8019"/>
            </a:solidFill>
            <a:effectLst/>
          </c:spPr>
          <c:invertIfNegative val="0"/>
          <c:dLbls>
            <c:numFmt formatCode="#,##0" sourceLinked="0"/>
            <c:txPr>
              <a:bodyPr/>
              <a:lstStyle/>
              <a:p>
                <a:pPr>
                  <a:defRPr b="0" i="0" strike="noStrike" sz="1000" u="none">
                    <a:solidFill>
                      <a:srgbClr val="282C3F"/>
                    </a:solidFill>
                    <a:latin typeface="Arial"/>
                  </a:defRPr>
                </a:pPr>
              </a:p>
            </c:txPr>
            <c:showLegendKey val="0"/>
            <c:showVal val="1"/>
            <c:showCatName val="0"/>
            <c:showSerName val="0"/>
            <c:showPercent val="0"/>
            <c:showBubbleSize val="0"/>
            <c:showLeaderLines val="0"/>
          </c:dLbls>
          <c:cat>
            <c:multiLvlStrRef>
              <c:f>Sheet1!$A$2:$A$11</c:f>
              <c:multiLvlStrCache>
                <c:ptCount val="10"/>
                <c:lvl>
                  <c:pt idx="0">
                    <c:v>Rohini</c:v>
                  </c:pt>
                  <c:pt idx="1">
                    <c:v>Chembur</c:v>
                  </c:pt>
                  <c:pt idx="2">
                    <c:v>Kothrud</c:v>
                  </c:pt>
                  <c:pt idx="3">
                    <c:v>Andheri East</c:v>
                  </c:pt>
                  <c:pt idx="4">
                    <c:v>Navrangpura</c:v>
                  </c:pt>
                  <c:pt idx="5">
                    <c:v>Indiranagar</c:v>
                  </c:pt>
                  <c:pt idx="6">
                    <c:v>Kurla</c:v>
                  </c:pt>
                  <c:pt idx="7">
                    <c:v>Koramangala</c:v>
                  </c:pt>
                  <c:pt idx="8">
                    <c:v>Bidhannagar</c:v>
                  </c:pt>
                  <c:pt idx="9">
                    <c:v>Ashok Nagar</c:v>
                  </c:pt>
                </c:lvl>
              </c:multiLvlStrCache>
            </c:multiLvlStrRef>
          </c:cat>
          <c:val>
            <c:numRef>
              <c:f>Sheet1!$B$2:$B$11</c:f>
              <c:numCache>
                <c:formatCode>General</c:formatCode>
                <c:ptCount val="10"/>
                <c:pt idx="0">
                  <c:v>257</c:v>
                </c:pt>
                <c:pt idx="1">
                  <c:v>208</c:v>
                </c:pt>
                <c:pt idx="2">
                  <c:v>149</c:v>
                </c:pt>
                <c:pt idx="3">
                  <c:v>135</c:v>
                </c:pt>
                <c:pt idx="4">
                  <c:v>132</c:v>
                </c:pt>
                <c:pt idx="5">
                  <c:v>130</c:v>
                </c:pt>
                <c:pt idx="6">
                  <c:v>129</c:v>
                </c:pt>
                <c:pt idx="7">
                  <c:v>124</c:v>
                </c:pt>
                <c:pt idx="8">
                  <c:v>123</c:v>
                </c:pt>
                <c:pt idx="9">
                  <c:v>118</c:v>
                </c:pt>
              </c:numCache>
            </c:numRef>
          </c:val>
        </c:ser>
        <c:dLbls>
          <c:numFmt formatCode="#,##0" sourceLinked="0"/>
          <c:txPr>
            <a:bodyPr/>
            <a:lstStyle/>
            <a:p>
              <a:pPr>
                <a:defRPr b="0" i="0" strike="noStrike" sz="1000" u="none">
                  <a:solidFill>
                    <a:srgbClr val="282C3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2A2E3F"/>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name is Vinit Sharma, a third-year B.Tech Computer Science student at Arya College of Engineering. Today I'll be presenting my data analytics project on Swiggy's food delivery operations, built for my academic evaluation and my Data Analyst internship portfolio. This analysis is based on a real-world dataset of 8,680 restaurant listings across 9 major Indian cities, and over the next few slides I'll walk you through the demand patterns, pricing behavior, operational bottlenecks, and location-level performance I uncovered, along with concrete business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 When we look at the raw numbers, the inconsistency across cities is stark: there's a 23-minute gap in average delivery time between Kolkata, our slowest city, and Ahmedabad, our fastest. Nearly 31 percent of all restaurants breach the 60-minute delivery mark, and about 41 percent are rated below 3.5 out of 5 -- that's a real quality concern at scale. Given this, our objective is fourfold: understand demand and pricing, pinpoint exactly where delivery is breaking down, identify what top performers are doing right, and turn all of this into recommendations Swiggy's operations team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jumping into insights, a quick word on methodology and data integrity, since that's the foundation of any credible analysis. The dataset covers 8,680 restaurants with 10 fields each, and I validated it thoroughly -- zero missing values and zero duplicate restaurant IDs, so it's fully analysis-ready. I'll also be transparent about a limitation: there's no order timestamp or cancellation flag in this data, so I engineered proxy metrics -- listing and review volume for demand, and delivery-time SLA breaches for operational bottlenecks -- rather than force-fitting metrics the data can't actually support. On the engineering side, I split multi-cuisine listings into individual tags, binned delivery times into SLA buckets, and aggregated everything at the city and area level using Python and Pandas.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demand and pricing: Kolkata has the largest restaurant footprint on the platform with 1,346 listings, about 15.5 percent of the entire dataset, followed by Mumbai and Chennai. On cuisine, Chinese food is the single most listed category nationally at 2,588 restaurants, ahead of North Indian and Indian food -- that tells us where cross-city demand is concentrated. Pricing tells an interesting story too: Mumbai's average menu price of about 394 rupees is 46 percent higher than Surat's 270 rupees, reflecting a clear urban cost premium. But interestingly, price and rating are only weakly correlated at 0.11 -- so charging more doesn't automatically translate into a better customer rating, which has implications for how we think about premium positioning.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operational bottlenecks. The platform-wide average delivery time is 54 minutes, but that average hides a lot of variance: Kolkata averages 67.8 minutes, a full 23 minutes slower than Ahmedabad's 44.7 minutes. Almost 31 percent of all restaurants exceed the 60-minute mark, which I'm treating as an SLA breach threshold. Drilling into micro-markets, the three slowest areas nationally -- Jadavpur, Alipore, and Dumdum -- are all inside Kolkata, so this isn't a citywide issue, it's concentrated in specific hyperlocal zones, which actually makes it more solvable with targeted logistics investment. I also want to flag transparently that this dataset has no cancellation field, so I'm using delivery-time SLA breaches as the operational-bottleneck proxy rather than claiming a cancellation rate I can't actually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geography: Rohini in Delhi-NCR is the single densest hyperlocal hub with 257 restaurants, followed by Chembur and Kothrud -- these are the neighborhoods where Swiggy has the deepest restaurant supply. At the city level, Chennai and Bangalore post the highest average ratings, at 3.78 and 3.76, while Delhi trails at 3.53. Two standout patterns worth highlighting for recruiters and professors alike: first, niche dessert and sweets specialists achieve the platform's highest ratings at real scale -- Nic Natural Ice Creams in Kolkata holds a 4.8-star rating across 500 reviews. Second, Hyderabad's biryani culture drives extraordinary engagement -- five of the six most-reviewed restaurants on the entire platform, each with 10,000 ratings, are Hyderabad biryani houses like Mehfil and Bawarchi. That's a striking, city-specific demand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analysis surfaced five clear, data-backed recommendations for Swiggy's operations team. First, close the Kolkata delivery gap by adding rider capacity specifically in Jadavpur, Alipore, and Dumdum. Second, set a platform-wide SLA target of 45 minutes or less, since a 31 percent breach rate above 60 minutes is a real churn risk. Third, launch a quality-improvement program for the 41 percent of restaurants rated below 3.5, prioritizing high-price, low-rating outliers first. Fourth, lean into the platform's proven high-demand cuisines -- Chinese, North Indian, and Biryani -- with city-specific promotions. And finally, I'd recommend Swiggy invest in richer data collection going forward -- specifically order timestamps and cancellation flags -- so future analyses can answer questions like true peak-hour demand and cancellation drivers that this dataset couldn't. Thank you --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2C3F"/>
        </a:solidFill>
      </p:bgPr>
    </p:bg>
    <p:spTree>
      <p:nvGrpSpPr>
        <p:cNvPr id="1" name=""/>
        <p:cNvGrpSpPr/>
        <p:nvPr/>
      </p:nvGrpSpPr>
      <p:grpSpPr>
        <a:xfrm>
          <a:off x="0" y="0"/>
          <a:ext cx="0" cy="0"/>
          <a:chOff x="0" y="0"/>
          <a:chExt cx="0" cy="0"/>
        </a:xfrm>
      </p:grpSpPr>
      <p:sp>
        <p:nvSpPr>
          <p:cNvPr id="2" name="Text 0"/>
          <p:cNvSpPr/>
          <p:nvPr/>
        </p:nvSpPr>
        <p:spPr>
          <a:xfrm>
            <a:off x="640080" y="640080"/>
            <a:ext cx="7315200" cy="320040"/>
          </a:xfrm>
          <a:prstGeom prst="rect">
            <a:avLst/>
          </a:prstGeom>
          <a:noFill/>
          <a:ln/>
        </p:spPr>
        <p:txBody>
          <a:bodyPr wrap="square" lIns="0" tIns="0" rIns="0" bIns="0" rtlCol="0" anchor="ctr"/>
          <a:lstStyle/>
          <a:p>
            <a:pPr indent="0" marL="0">
              <a:buNone/>
            </a:pPr>
            <a:r>
              <a:rPr lang="en-US" sz="1200" b="1" spc="300" kern="0" dirty="0">
                <a:solidFill>
                  <a:srgbClr val="FC8019"/>
                </a:solidFill>
                <a:latin typeface="Arial" pitchFamily="34" charset="0"/>
                <a:ea typeface="Arial" pitchFamily="34" charset="-122"/>
                <a:cs typeface="Arial" pitchFamily="34" charset="-120"/>
              </a:rPr>
              <a:t>DATA ANALYTICS PROJECT</a:t>
            </a:r>
            <a:endParaRPr lang="en-US" sz="1200" dirty="0"/>
          </a:p>
        </p:txBody>
      </p:sp>
      <p:sp>
        <p:nvSpPr>
          <p:cNvPr id="3" name="Text 1"/>
          <p:cNvSpPr/>
          <p:nvPr/>
        </p:nvSpPr>
        <p:spPr>
          <a:xfrm>
            <a:off x="640080" y="1143000"/>
            <a:ext cx="10881360" cy="7772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Swiggy Food Delivery</a:t>
            </a:r>
            <a:endParaRPr lang="en-US" sz="4400" dirty="0"/>
          </a:p>
        </p:txBody>
      </p:sp>
      <p:sp>
        <p:nvSpPr>
          <p:cNvPr id="4" name="Text 2"/>
          <p:cNvSpPr/>
          <p:nvPr/>
        </p:nvSpPr>
        <p:spPr>
          <a:xfrm>
            <a:off x="640080" y="1874520"/>
            <a:ext cx="10881360" cy="685800"/>
          </a:xfrm>
          <a:prstGeom prst="rect">
            <a:avLst/>
          </a:prstGeom>
          <a:noFill/>
          <a:ln/>
        </p:spPr>
        <p:txBody>
          <a:bodyPr wrap="square" lIns="0" tIns="0" rIns="0" bIns="0" rtlCol="0" anchor="ctr"/>
          <a:lstStyle/>
          <a:p>
            <a:pPr indent="0" marL="0">
              <a:buNone/>
            </a:pPr>
            <a:r>
              <a:rPr lang="en-US" sz="3400" b="1" dirty="0">
                <a:solidFill>
                  <a:srgbClr val="FC8019"/>
                </a:solidFill>
                <a:latin typeface="Arial" pitchFamily="34" charset="0"/>
                <a:ea typeface="Arial" pitchFamily="34" charset="-122"/>
                <a:cs typeface="Arial" pitchFamily="34" charset="-120"/>
              </a:rPr>
              <a:t>Operations &amp; Performance Analysis</a:t>
            </a:r>
            <a:endParaRPr lang="en-US" sz="3400" dirty="0"/>
          </a:p>
        </p:txBody>
      </p:sp>
      <p:sp>
        <p:nvSpPr>
          <p:cNvPr id="5" name="Text 3"/>
          <p:cNvSpPr/>
          <p:nvPr/>
        </p:nvSpPr>
        <p:spPr>
          <a:xfrm>
            <a:off x="640080" y="2697480"/>
            <a:ext cx="8686800" cy="548640"/>
          </a:xfrm>
          <a:prstGeom prst="rect">
            <a:avLst/>
          </a:prstGeom>
          <a:noFill/>
          <a:ln/>
        </p:spPr>
        <p:txBody>
          <a:bodyPr wrap="square" lIns="0" tIns="0" rIns="0" bIns="0" rtlCol="0" anchor="ctr"/>
          <a:lstStyle/>
          <a:p>
            <a:pPr indent="0" marL="0">
              <a:buNone/>
            </a:pPr>
            <a:r>
              <a:rPr lang="en-US" sz="1500" dirty="0">
                <a:solidFill>
                  <a:srgbClr val="C7CBD9"/>
                </a:solidFill>
                <a:latin typeface="Arial" pitchFamily="34" charset="0"/>
                <a:ea typeface="Arial" pitchFamily="34" charset="-122"/>
                <a:cs typeface="Arial" pitchFamily="34" charset="-120"/>
              </a:rPr>
              <a:t>Uncovering demand, pricing, and delivery-performance patterns across 9 Indian cities to guide operational strategy.</a:t>
            </a:r>
            <a:endParaRPr lang="en-US" sz="1500" dirty="0"/>
          </a:p>
        </p:txBody>
      </p:sp>
      <p:sp>
        <p:nvSpPr>
          <p:cNvPr id="6" name="Shape 4"/>
          <p:cNvSpPr/>
          <p:nvPr/>
        </p:nvSpPr>
        <p:spPr>
          <a:xfrm>
            <a:off x="640080" y="3703320"/>
            <a:ext cx="0" cy="1371600"/>
          </a:xfrm>
          <a:prstGeom prst="line">
            <a:avLst/>
          </a:prstGeom>
          <a:noFill/>
          <a:ln w="12700">
            <a:solidFill>
              <a:srgbClr val="3F4459"/>
            </a:solidFill>
            <a:prstDash val="solid"/>
          </a:ln>
        </p:spPr>
      </p:sp>
      <p:sp>
        <p:nvSpPr>
          <p:cNvPr id="7" name="Text 5"/>
          <p:cNvSpPr/>
          <p:nvPr/>
        </p:nvSpPr>
        <p:spPr>
          <a:xfrm>
            <a:off x="868680" y="3703320"/>
            <a:ext cx="265176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8,680</a:t>
            </a:r>
            <a:endParaRPr lang="en-US" sz="3600" dirty="0"/>
          </a:p>
        </p:txBody>
      </p:sp>
      <p:sp>
        <p:nvSpPr>
          <p:cNvPr id="8" name="Text 6"/>
          <p:cNvSpPr/>
          <p:nvPr/>
        </p:nvSpPr>
        <p:spPr>
          <a:xfrm>
            <a:off x="868680" y="4343400"/>
            <a:ext cx="2651760" cy="457200"/>
          </a:xfrm>
          <a:prstGeom prst="rect">
            <a:avLst/>
          </a:prstGeom>
          <a:noFill/>
          <a:ln/>
        </p:spPr>
        <p:txBody>
          <a:bodyPr wrap="square" lIns="0" tIns="0" rIns="0" bIns="0" rtlCol="0" anchor="ctr"/>
          <a:lstStyle/>
          <a:p>
            <a:pPr indent="0" marL="0">
              <a:buNone/>
            </a:pPr>
            <a:r>
              <a:rPr lang="en-US" sz="1100" spc="100" kern="0" dirty="0">
                <a:solidFill>
                  <a:srgbClr val="9DA3B4"/>
                </a:solidFill>
                <a:latin typeface="Arial" pitchFamily="34" charset="0"/>
                <a:ea typeface="Arial" pitchFamily="34" charset="-122"/>
                <a:cs typeface="Arial" pitchFamily="34" charset="-120"/>
              </a:rPr>
              <a:t>RESTAURANTS ANALYZED</a:t>
            </a:r>
            <a:endParaRPr lang="en-US" sz="1100" dirty="0"/>
          </a:p>
        </p:txBody>
      </p:sp>
      <p:sp>
        <p:nvSpPr>
          <p:cNvPr id="9" name="Shape 7"/>
          <p:cNvSpPr/>
          <p:nvPr/>
        </p:nvSpPr>
        <p:spPr>
          <a:xfrm>
            <a:off x="3520440" y="3703320"/>
            <a:ext cx="0" cy="1371600"/>
          </a:xfrm>
          <a:prstGeom prst="line">
            <a:avLst/>
          </a:prstGeom>
          <a:noFill/>
          <a:ln w="12700">
            <a:solidFill>
              <a:srgbClr val="3F4459"/>
            </a:solidFill>
            <a:prstDash val="solid"/>
          </a:ln>
        </p:spPr>
      </p:sp>
      <p:sp>
        <p:nvSpPr>
          <p:cNvPr id="10" name="Text 8"/>
          <p:cNvSpPr/>
          <p:nvPr/>
        </p:nvSpPr>
        <p:spPr>
          <a:xfrm>
            <a:off x="3749040" y="3703320"/>
            <a:ext cx="265176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9</a:t>
            </a:r>
            <a:endParaRPr lang="en-US" sz="3600" dirty="0"/>
          </a:p>
        </p:txBody>
      </p:sp>
      <p:sp>
        <p:nvSpPr>
          <p:cNvPr id="11" name="Text 9"/>
          <p:cNvSpPr/>
          <p:nvPr/>
        </p:nvSpPr>
        <p:spPr>
          <a:xfrm>
            <a:off x="3749040" y="4343400"/>
            <a:ext cx="2651760" cy="457200"/>
          </a:xfrm>
          <a:prstGeom prst="rect">
            <a:avLst/>
          </a:prstGeom>
          <a:noFill/>
          <a:ln/>
        </p:spPr>
        <p:txBody>
          <a:bodyPr wrap="square" lIns="0" tIns="0" rIns="0" bIns="0" rtlCol="0" anchor="ctr"/>
          <a:lstStyle/>
          <a:p>
            <a:pPr indent="0" marL="0">
              <a:buNone/>
            </a:pPr>
            <a:r>
              <a:rPr lang="en-US" sz="1100" spc="100" kern="0" dirty="0">
                <a:solidFill>
                  <a:srgbClr val="9DA3B4"/>
                </a:solidFill>
                <a:latin typeface="Arial" pitchFamily="34" charset="0"/>
                <a:ea typeface="Arial" pitchFamily="34" charset="-122"/>
                <a:cs typeface="Arial" pitchFamily="34" charset="-120"/>
              </a:rPr>
              <a:t>CITIES COVERED</a:t>
            </a:r>
            <a:endParaRPr lang="en-US" sz="1100" dirty="0"/>
          </a:p>
        </p:txBody>
      </p:sp>
      <p:sp>
        <p:nvSpPr>
          <p:cNvPr id="12" name="Shape 10"/>
          <p:cNvSpPr/>
          <p:nvPr/>
        </p:nvSpPr>
        <p:spPr>
          <a:xfrm>
            <a:off x="6400800" y="3703320"/>
            <a:ext cx="0" cy="1371600"/>
          </a:xfrm>
          <a:prstGeom prst="line">
            <a:avLst/>
          </a:prstGeom>
          <a:noFill/>
          <a:ln w="12700">
            <a:solidFill>
              <a:srgbClr val="3F4459"/>
            </a:solidFill>
            <a:prstDash val="solid"/>
          </a:ln>
        </p:spPr>
      </p:sp>
      <p:sp>
        <p:nvSpPr>
          <p:cNvPr id="13" name="Text 11"/>
          <p:cNvSpPr/>
          <p:nvPr/>
        </p:nvSpPr>
        <p:spPr>
          <a:xfrm>
            <a:off x="6629400" y="3703320"/>
            <a:ext cx="265176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54 min</a:t>
            </a:r>
            <a:endParaRPr lang="en-US" sz="3600" dirty="0"/>
          </a:p>
        </p:txBody>
      </p:sp>
      <p:sp>
        <p:nvSpPr>
          <p:cNvPr id="14" name="Text 12"/>
          <p:cNvSpPr/>
          <p:nvPr/>
        </p:nvSpPr>
        <p:spPr>
          <a:xfrm>
            <a:off x="6629400" y="4343400"/>
            <a:ext cx="2651760" cy="457200"/>
          </a:xfrm>
          <a:prstGeom prst="rect">
            <a:avLst/>
          </a:prstGeom>
          <a:noFill/>
          <a:ln/>
        </p:spPr>
        <p:txBody>
          <a:bodyPr wrap="square" lIns="0" tIns="0" rIns="0" bIns="0" rtlCol="0" anchor="ctr"/>
          <a:lstStyle/>
          <a:p>
            <a:pPr indent="0" marL="0">
              <a:buNone/>
            </a:pPr>
            <a:r>
              <a:rPr lang="en-US" sz="1100" spc="100" kern="0" dirty="0">
                <a:solidFill>
                  <a:srgbClr val="9DA3B4"/>
                </a:solidFill>
                <a:latin typeface="Arial" pitchFamily="34" charset="0"/>
                <a:ea typeface="Arial" pitchFamily="34" charset="-122"/>
                <a:cs typeface="Arial" pitchFamily="34" charset="-120"/>
              </a:rPr>
              <a:t>AVG. DELIVERY TIME</a:t>
            </a:r>
            <a:endParaRPr lang="en-US" sz="1100" dirty="0"/>
          </a:p>
        </p:txBody>
      </p:sp>
      <p:sp>
        <p:nvSpPr>
          <p:cNvPr id="15" name="Shape 13"/>
          <p:cNvSpPr/>
          <p:nvPr/>
        </p:nvSpPr>
        <p:spPr>
          <a:xfrm>
            <a:off x="640080" y="5989320"/>
            <a:ext cx="10881360" cy="0"/>
          </a:xfrm>
          <a:prstGeom prst="line">
            <a:avLst/>
          </a:prstGeom>
          <a:noFill/>
          <a:ln w="12700">
            <a:solidFill>
              <a:srgbClr val="3F4459"/>
            </a:solidFill>
            <a:prstDash val="solid"/>
          </a:ln>
        </p:spPr>
      </p:sp>
      <p:sp>
        <p:nvSpPr>
          <p:cNvPr id="16" name="Text 14"/>
          <p:cNvSpPr/>
          <p:nvPr/>
        </p:nvSpPr>
        <p:spPr>
          <a:xfrm>
            <a:off x="640080" y="6126480"/>
            <a:ext cx="365760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Vinit Sharma</a:t>
            </a:r>
            <a:endParaRPr lang="en-US" sz="1400" dirty="0"/>
          </a:p>
        </p:txBody>
      </p:sp>
      <p:sp>
        <p:nvSpPr>
          <p:cNvPr id="17" name="Text 15"/>
          <p:cNvSpPr/>
          <p:nvPr/>
        </p:nvSpPr>
        <p:spPr>
          <a:xfrm>
            <a:off x="640080" y="6446520"/>
            <a:ext cx="7315200" cy="320040"/>
          </a:xfrm>
          <a:prstGeom prst="rect">
            <a:avLst/>
          </a:prstGeom>
          <a:noFill/>
          <a:ln/>
        </p:spPr>
        <p:txBody>
          <a:bodyPr wrap="square" lIns="0" tIns="0" rIns="0" bIns="0" rtlCol="0" anchor="ctr"/>
          <a:lstStyle/>
          <a:p>
            <a:pPr indent="0" marL="0">
              <a:buNone/>
            </a:pPr>
            <a:r>
              <a:rPr lang="en-US" sz="1100" dirty="0">
                <a:solidFill>
                  <a:srgbClr val="9DA3B4"/>
                </a:solidFill>
                <a:latin typeface="Arial" pitchFamily="34" charset="0"/>
                <a:ea typeface="Arial" pitchFamily="34" charset="-122"/>
                <a:cs typeface="Arial" pitchFamily="34" charset="-120"/>
              </a:rPr>
              <a:t>B.Tech CSE, 3rd Year  |  Arya College of Engineering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502920" cy="502920"/>
          </a:xfrm>
          <a:prstGeom prst="ellipse">
            <a:avLst/>
          </a:prstGeom>
          <a:solidFill>
            <a:srgbClr val="FC8019"/>
          </a:solidFill>
          <a:ln/>
        </p:spPr>
      </p:sp>
      <p:sp>
        <p:nvSpPr>
          <p:cNvPr id="3" name="Text 1"/>
          <p:cNvSpPr/>
          <p:nvPr/>
        </p:nvSpPr>
        <p:spPr>
          <a:xfrm>
            <a:off x="457200" y="365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01</a:t>
            </a:r>
            <a:endParaRPr lang="en-US" sz="1800" dirty="0"/>
          </a:p>
        </p:txBody>
      </p:sp>
      <p:sp>
        <p:nvSpPr>
          <p:cNvPr id="4" name="Text 2"/>
          <p:cNvSpPr/>
          <p:nvPr/>
        </p:nvSpPr>
        <p:spPr>
          <a:xfrm>
            <a:off x="1097280" y="320040"/>
            <a:ext cx="10607040" cy="594360"/>
          </a:xfrm>
          <a:prstGeom prst="rect">
            <a:avLst/>
          </a:prstGeom>
          <a:noFill/>
          <a:ln/>
        </p:spPr>
        <p:txBody>
          <a:bodyPr wrap="square" lIns="0" tIns="0" rIns="0" bIns="0" rtlCol="0" anchor="ctr"/>
          <a:lstStyle/>
          <a:p>
            <a:pPr algn="l" indent="0" marL="0">
              <a:buNone/>
            </a:pPr>
            <a:r>
              <a:rPr lang="en-US" sz="2600" b="1" dirty="0">
                <a:solidFill>
                  <a:srgbClr val="282C3F"/>
                </a:solidFill>
                <a:latin typeface="Arial" pitchFamily="34" charset="0"/>
                <a:ea typeface="Arial" pitchFamily="34" charset="-122"/>
                <a:cs typeface="Arial" pitchFamily="34" charset="-120"/>
              </a:rPr>
              <a:t>Problem Statement &amp; Objective</a:t>
            </a:r>
            <a:endParaRPr lang="en-US" sz="2600" dirty="0"/>
          </a:p>
        </p:txBody>
      </p:sp>
      <p:sp>
        <p:nvSpPr>
          <p:cNvPr id="5" name="Text 3"/>
          <p:cNvSpPr/>
          <p:nvPr/>
        </p:nvSpPr>
        <p:spPr>
          <a:xfrm>
            <a:off x="457200" y="1234440"/>
            <a:ext cx="5486400" cy="320040"/>
          </a:xfrm>
          <a:prstGeom prst="rect">
            <a:avLst/>
          </a:prstGeom>
          <a:noFill/>
          <a:ln/>
        </p:spPr>
        <p:txBody>
          <a:bodyPr wrap="square" lIns="0" tIns="0" rIns="0" bIns="0" rtlCol="0" anchor="ctr"/>
          <a:lstStyle/>
          <a:p>
            <a:pPr indent="0" marL="0">
              <a:buNone/>
            </a:pPr>
            <a:r>
              <a:rPr lang="en-US" sz="1300" b="1" spc="100" kern="0" dirty="0">
                <a:solidFill>
                  <a:srgbClr val="FC8019"/>
                </a:solidFill>
                <a:latin typeface="Arial" pitchFamily="34" charset="0"/>
                <a:ea typeface="Arial" pitchFamily="34" charset="-122"/>
                <a:cs typeface="Arial" pitchFamily="34" charset="-120"/>
              </a:rPr>
              <a:t>THE PROBLEM</a:t>
            </a:r>
            <a:endParaRPr lang="en-US" sz="1300" dirty="0"/>
          </a:p>
        </p:txBody>
      </p:sp>
      <p:sp>
        <p:nvSpPr>
          <p:cNvPr id="6" name="Text 4"/>
          <p:cNvSpPr/>
          <p:nvPr/>
        </p:nvSpPr>
        <p:spPr>
          <a:xfrm>
            <a:off x="457200" y="1554480"/>
            <a:ext cx="5852160" cy="1371600"/>
          </a:xfrm>
          <a:prstGeom prst="rect">
            <a:avLst/>
          </a:prstGeom>
          <a:noFill/>
          <a:ln/>
        </p:spPr>
        <p:txBody>
          <a:bodyPr wrap="square" lIns="0" tIns="0" rIns="0" bIns="0" rtlCol="0" anchor="t"/>
          <a:lstStyle/>
          <a:p>
            <a:pPr indent="0" marL="0">
              <a:lnSpc>
                <a:spcPct val="125000"/>
              </a:lnSpc>
              <a:buNone/>
            </a:pPr>
            <a:r>
              <a:rPr lang="en-US" sz="1450" dirty="0">
                <a:solidFill>
                  <a:srgbClr val="2A2E3F"/>
                </a:solidFill>
                <a:latin typeface="Arial" pitchFamily="34" charset="0"/>
                <a:ea typeface="Arial" pitchFamily="34" charset="-122"/>
                <a:cs typeface="Arial" pitchFamily="34" charset="-120"/>
              </a:rPr>
              <a:t>Swiggy operates across highly diverse city markets. Delivery speed, pricing, and restaurant quality vary sharply from one city to another, creating an inconsistent customer experience and making it hard to prioritize operational investment.</a:t>
            </a:r>
            <a:endParaRPr lang="en-US" sz="1450" dirty="0"/>
          </a:p>
        </p:txBody>
      </p:sp>
      <p:sp>
        <p:nvSpPr>
          <p:cNvPr id="7" name="Text 5"/>
          <p:cNvSpPr/>
          <p:nvPr/>
        </p:nvSpPr>
        <p:spPr>
          <a:xfrm>
            <a:off x="457200" y="3063240"/>
            <a:ext cx="5486400" cy="320040"/>
          </a:xfrm>
          <a:prstGeom prst="rect">
            <a:avLst/>
          </a:prstGeom>
          <a:noFill/>
          <a:ln/>
        </p:spPr>
        <p:txBody>
          <a:bodyPr wrap="square" lIns="0" tIns="0" rIns="0" bIns="0" rtlCol="0" anchor="ctr"/>
          <a:lstStyle/>
          <a:p>
            <a:pPr indent="0" marL="0">
              <a:buNone/>
            </a:pPr>
            <a:r>
              <a:rPr lang="en-US" sz="1300" b="1" spc="100" kern="0" dirty="0">
                <a:solidFill>
                  <a:srgbClr val="FC8019"/>
                </a:solidFill>
                <a:latin typeface="Arial" pitchFamily="34" charset="0"/>
                <a:ea typeface="Arial" pitchFamily="34" charset="-122"/>
                <a:cs typeface="Arial" pitchFamily="34" charset="-120"/>
              </a:rPr>
              <a:t>OUR OBJECTIVE</a:t>
            </a:r>
            <a:endParaRPr lang="en-US" sz="1300" dirty="0"/>
          </a:p>
        </p:txBody>
      </p:sp>
      <p:sp>
        <p:nvSpPr>
          <p:cNvPr id="8" name="Shape 6"/>
          <p:cNvSpPr/>
          <p:nvPr/>
        </p:nvSpPr>
        <p:spPr>
          <a:xfrm>
            <a:off x="457200" y="3429000"/>
            <a:ext cx="292608" cy="292608"/>
          </a:xfrm>
          <a:prstGeom prst="ellipse">
            <a:avLst/>
          </a:prstGeom>
          <a:solidFill>
            <a:srgbClr val="282C3F"/>
          </a:solidFill>
          <a:ln/>
        </p:spPr>
      </p:sp>
      <p:sp>
        <p:nvSpPr>
          <p:cNvPr id="9" name="Text 7"/>
          <p:cNvSpPr/>
          <p:nvPr/>
        </p:nvSpPr>
        <p:spPr>
          <a:xfrm>
            <a:off x="457200" y="34290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0" name="Text 8"/>
          <p:cNvSpPr/>
          <p:nvPr/>
        </p:nvSpPr>
        <p:spPr>
          <a:xfrm>
            <a:off x="896112" y="3374136"/>
            <a:ext cx="5394960" cy="457200"/>
          </a:xfrm>
          <a:prstGeom prst="rect">
            <a:avLst/>
          </a:prstGeom>
          <a:noFill/>
          <a:ln/>
        </p:spPr>
        <p:txBody>
          <a:bodyPr wrap="square" lIns="0" tIns="0" rIns="0" bIns="0" rtlCol="0" anchor="ctr"/>
          <a:lstStyle/>
          <a:p>
            <a:pPr indent="0" marL="0">
              <a:buNone/>
            </a:pPr>
            <a:r>
              <a:rPr lang="en-US" sz="1300" dirty="0">
                <a:solidFill>
                  <a:srgbClr val="2A2E3F"/>
                </a:solidFill>
                <a:latin typeface="Arial" pitchFamily="34" charset="0"/>
                <a:ea typeface="Arial" pitchFamily="34" charset="-122"/>
                <a:cs typeface="Arial" pitchFamily="34" charset="-120"/>
              </a:rPr>
              <a:t>Quantify demand distribution &amp; pricing behavior across 9 cities</a:t>
            </a:r>
            <a:endParaRPr lang="en-US" sz="1300" dirty="0"/>
          </a:p>
        </p:txBody>
      </p:sp>
      <p:sp>
        <p:nvSpPr>
          <p:cNvPr id="11" name="Shape 9"/>
          <p:cNvSpPr/>
          <p:nvPr/>
        </p:nvSpPr>
        <p:spPr>
          <a:xfrm>
            <a:off x="457200" y="3995928"/>
            <a:ext cx="292608" cy="292608"/>
          </a:xfrm>
          <a:prstGeom prst="ellipse">
            <a:avLst/>
          </a:prstGeom>
          <a:solidFill>
            <a:srgbClr val="282C3F"/>
          </a:solidFill>
          <a:ln/>
        </p:spPr>
      </p:sp>
      <p:sp>
        <p:nvSpPr>
          <p:cNvPr id="12" name="Text 10"/>
          <p:cNvSpPr/>
          <p:nvPr/>
        </p:nvSpPr>
        <p:spPr>
          <a:xfrm>
            <a:off x="457200" y="39959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p:nvPr/>
        </p:nvSpPr>
        <p:spPr>
          <a:xfrm>
            <a:off x="896112" y="3941064"/>
            <a:ext cx="5394960" cy="457200"/>
          </a:xfrm>
          <a:prstGeom prst="rect">
            <a:avLst/>
          </a:prstGeom>
          <a:noFill/>
          <a:ln/>
        </p:spPr>
        <p:txBody>
          <a:bodyPr wrap="square" lIns="0" tIns="0" rIns="0" bIns="0" rtlCol="0" anchor="ctr"/>
          <a:lstStyle/>
          <a:p>
            <a:pPr indent="0" marL="0">
              <a:buNone/>
            </a:pPr>
            <a:r>
              <a:rPr lang="en-US" sz="1300" dirty="0">
                <a:solidFill>
                  <a:srgbClr val="2A2E3F"/>
                </a:solidFill>
                <a:latin typeface="Arial" pitchFamily="34" charset="0"/>
                <a:ea typeface="Arial" pitchFamily="34" charset="-122"/>
                <a:cs typeface="Arial" pitchFamily="34" charset="-120"/>
              </a:rPr>
              <a:t>Pinpoint delivery-time bottlenecks by city and micro-market (area)</a:t>
            </a:r>
            <a:endParaRPr lang="en-US" sz="1300" dirty="0"/>
          </a:p>
        </p:txBody>
      </p:sp>
      <p:sp>
        <p:nvSpPr>
          <p:cNvPr id="14" name="Shape 12"/>
          <p:cNvSpPr/>
          <p:nvPr/>
        </p:nvSpPr>
        <p:spPr>
          <a:xfrm>
            <a:off x="457200" y="4562856"/>
            <a:ext cx="292608" cy="292608"/>
          </a:xfrm>
          <a:prstGeom prst="ellipse">
            <a:avLst/>
          </a:prstGeom>
          <a:solidFill>
            <a:srgbClr val="282C3F"/>
          </a:solidFill>
          <a:ln/>
        </p:spPr>
      </p:sp>
      <p:sp>
        <p:nvSpPr>
          <p:cNvPr id="15" name="Text 13"/>
          <p:cNvSpPr/>
          <p:nvPr/>
        </p:nvSpPr>
        <p:spPr>
          <a:xfrm>
            <a:off x="457200" y="45628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6" name="Text 14"/>
          <p:cNvSpPr/>
          <p:nvPr/>
        </p:nvSpPr>
        <p:spPr>
          <a:xfrm>
            <a:off x="896112" y="4507992"/>
            <a:ext cx="5394960" cy="457200"/>
          </a:xfrm>
          <a:prstGeom prst="rect">
            <a:avLst/>
          </a:prstGeom>
          <a:noFill/>
          <a:ln/>
        </p:spPr>
        <p:txBody>
          <a:bodyPr wrap="square" lIns="0" tIns="0" rIns="0" bIns="0" rtlCol="0" anchor="ctr"/>
          <a:lstStyle/>
          <a:p>
            <a:pPr indent="0" marL="0">
              <a:buNone/>
            </a:pPr>
            <a:r>
              <a:rPr lang="en-US" sz="1300" dirty="0">
                <a:solidFill>
                  <a:srgbClr val="2A2E3F"/>
                </a:solidFill>
                <a:latin typeface="Arial" pitchFamily="34" charset="0"/>
                <a:ea typeface="Arial" pitchFamily="34" charset="-122"/>
                <a:cs typeface="Arial" pitchFamily="34" charset="-120"/>
              </a:rPr>
              <a:t>Surface top-performing restaurants &amp; locations worth replicating</a:t>
            </a:r>
            <a:endParaRPr lang="en-US" sz="1300" dirty="0"/>
          </a:p>
        </p:txBody>
      </p:sp>
      <p:sp>
        <p:nvSpPr>
          <p:cNvPr id="17" name="Shape 15"/>
          <p:cNvSpPr/>
          <p:nvPr/>
        </p:nvSpPr>
        <p:spPr>
          <a:xfrm>
            <a:off x="457200" y="5129784"/>
            <a:ext cx="292608" cy="292608"/>
          </a:xfrm>
          <a:prstGeom prst="ellipse">
            <a:avLst/>
          </a:prstGeom>
          <a:solidFill>
            <a:srgbClr val="282C3F"/>
          </a:solidFill>
          <a:ln/>
        </p:spPr>
      </p:sp>
      <p:sp>
        <p:nvSpPr>
          <p:cNvPr id="18" name="Text 16"/>
          <p:cNvSpPr/>
          <p:nvPr/>
        </p:nvSpPr>
        <p:spPr>
          <a:xfrm>
            <a:off x="457200" y="512978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9" name="Text 17"/>
          <p:cNvSpPr/>
          <p:nvPr/>
        </p:nvSpPr>
        <p:spPr>
          <a:xfrm>
            <a:off x="896112" y="5074920"/>
            <a:ext cx="5394960" cy="457200"/>
          </a:xfrm>
          <a:prstGeom prst="rect">
            <a:avLst/>
          </a:prstGeom>
          <a:noFill/>
          <a:ln/>
        </p:spPr>
        <p:txBody>
          <a:bodyPr wrap="square" lIns="0" tIns="0" rIns="0" bIns="0" rtlCol="0" anchor="ctr"/>
          <a:lstStyle/>
          <a:p>
            <a:pPr indent="0" marL="0">
              <a:buNone/>
            </a:pPr>
            <a:r>
              <a:rPr lang="en-US" sz="1300" dirty="0">
                <a:solidFill>
                  <a:srgbClr val="2A2E3F"/>
                </a:solidFill>
                <a:latin typeface="Arial" pitchFamily="34" charset="0"/>
                <a:ea typeface="Arial" pitchFamily="34" charset="-122"/>
                <a:cs typeface="Arial" pitchFamily="34" charset="-120"/>
              </a:rPr>
              <a:t>Translate findings into concrete operational recommendations</a:t>
            </a:r>
            <a:endParaRPr lang="en-US" sz="1300" dirty="0"/>
          </a:p>
        </p:txBody>
      </p:sp>
      <p:sp>
        <p:nvSpPr>
          <p:cNvPr id="20" name="Text 18"/>
          <p:cNvSpPr/>
          <p:nvPr/>
        </p:nvSpPr>
        <p:spPr>
          <a:xfrm>
            <a:off x="6720840" y="1234440"/>
            <a:ext cx="5029200" cy="320040"/>
          </a:xfrm>
          <a:prstGeom prst="rect">
            <a:avLst/>
          </a:prstGeom>
          <a:noFill/>
          <a:ln/>
        </p:spPr>
        <p:txBody>
          <a:bodyPr wrap="square" lIns="0" tIns="0" rIns="0" bIns="0" rtlCol="0" anchor="ctr"/>
          <a:lstStyle/>
          <a:p>
            <a:pPr indent="0" marL="0">
              <a:buNone/>
            </a:pPr>
            <a:r>
              <a:rPr lang="en-US" sz="1300" b="1" spc="100" kern="0" dirty="0">
                <a:solidFill>
                  <a:srgbClr val="FC8019"/>
                </a:solidFill>
                <a:latin typeface="Arial" pitchFamily="34" charset="0"/>
                <a:ea typeface="Arial" pitchFamily="34" charset="-122"/>
                <a:cs typeface="Arial" pitchFamily="34" charset="-120"/>
              </a:rPr>
              <a:t>WHY THIS MATTERS — THE NUMBERS</a:t>
            </a:r>
            <a:endParaRPr lang="en-US" sz="1300" dirty="0"/>
          </a:p>
        </p:txBody>
      </p:sp>
      <p:sp>
        <p:nvSpPr>
          <p:cNvPr id="21" name="Shape 19"/>
          <p:cNvSpPr/>
          <p:nvPr/>
        </p:nvSpPr>
        <p:spPr>
          <a:xfrm>
            <a:off x="6720840" y="1600200"/>
            <a:ext cx="2377440" cy="1417320"/>
          </a:xfrm>
          <a:prstGeom prst="roundRect">
            <a:avLst>
              <a:gd name="adj" fmla="val 5161"/>
            </a:avLst>
          </a:prstGeom>
          <a:solidFill>
            <a:srgbClr val="F5F5F6"/>
          </a:solidFill>
          <a:ln/>
        </p:spPr>
      </p:sp>
      <p:sp>
        <p:nvSpPr>
          <p:cNvPr id="22" name="Text 20"/>
          <p:cNvSpPr/>
          <p:nvPr/>
        </p:nvSpPr>
        <p:spPr>
          <a:xfrm>
            <a:off x="6903720" y="1673352"/>
            <a:ext cx="2011680" cy="708660"/>
          </a:xfrm>
          <a:prstGeom prst="rect">
            <a:avLst/>
          </a:prstGeom>
          <a:noFill/>
          <a:ln/>
        </p:spPr>
        <p:txBody>
          <a:bodyPr wrap="square" lIns="0" tIns="0" rIns="0" bIns="0" rtlCol="0" anchor="b">
            <a:normAutofit/>
          </a:bodyPr>
          <a:lstStyle/>
          <a:p>
            <a:pPr algn="l" indent="0" marL="0">
              <a:buNone/>
            </a:pPr>
            <a:r>
              <a:rPr lang="en-US" sz="2600" b="1" dirty="0">
                <a:solidFill>
                  <a:srgbClr val="D64550"/>
                </a:solidFill>
                <a:latin typeface="Arial" pitchFamily="34" charset="0"/>
                <a:ea typeface="Arial" pitchFamily="34" charset="-122"/>
                <a:cs typeface="Arial" pitchFamily="34" charset="-120"/>
              </a:rPr>
              <a:t>23 min</a:t>
            </a:r>
            <a:endParaRPr lang="en-US" sz="2600" dirty="0"/>
          </a:p>
        </p:txBody>
      </p:sp>
      <p:sp>
        <p:nvSpPr>
          <p:cNvPr id="23" name="Text 21"/>
          <p:cNvSpPr/>
          <p:nvPr/>
        </p:nvSpPr>
        <p:spPr>
          <a:xfrm>
            <a:off x="6903720" y="2422246"/>
            <a:ext cx="2011680" cy="566928"/>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Delivery-time gap between</a:t>
            </a:r>
            <a:endParaRPr lang="en-US" sz="1100" dirty="0"/>
          </a:p>
          <a:p>
            <a:pPr algn="l" indent="0" marL="0">
              <a:buNone/>
            </a:pPr>
            <a:r>
              <a:rPr lang="en-US" sz="1100" dirty="0">
                <a:solidFill>
                  <a:srgbClr val="6B7280"/>
                </a:solidFill>
                <a:latin typeface="Arial" pitchFamily="34" charset="0"/>
                <a:ea typeface="Arial" pitchFamily="34" charset="-122"/>
                <a:cs typeface="Arial" pitchFamily="34" charset="-120"/>
              </a:rPr>
              <a:t>slowest city (Kolkata) and</a:t>
            </a:r>
            <a:endParaRPr lang="en-US" sz="1100" dirty="0"/>
          </a:p>
          <a:p>
            <a:pPr algn="l" indent="0" marL="0">
              <a:buNone/>
            </a:pPr>
            <a:r>
              <a:rPr lang="en-US" sz="1100" dirty="0">
                <a:solidFill>
                  <a:srgbClr val="6B7280"/>
                </a:solidFill>
                <a:latin typeface="Arial" pitchFamily="34" charset="0"/>
                <a:ea typeface="Arial" pitchFamily="34" charset="-122"/>
                <a:cs typeface="Arial" pitchFamily="34" charset="-120"/>
              </a:rPr>
              <a:t>fastest city (Ahmedabad)</a:t>
            </a:r>
            <a:endParaRPr lang="en-US" sz="1100" dirty="0"/>
          </a:p>
        </p:txBody>
      </p:sp>
      <p:sp>
        <p:nvSpPr>
          <p:cNvPr id="24" name="Shape 22"/>
          <p:cNvSpPr/>
          <p:nvPr/>
        </p:nvSpPr>
        <p:spPr>
          <a:xfrm>
            <a:off x="9281160" y="1600200"/>
            <a:ext cx="2423160" cy="1417320"/>
          </a:xfrm>
          <a:prstGeom prst="roundRect">
            <a:avLst>
              <a:gd name="adj" fmla="val 5161"/>
            </a:avLst>
          </a:prstGeom>
          <a:solidFill>
            <a:srgbClr val="F5F5F6"/>
          </a:solidFill>
          <a:ln/>
        </p:spPr>
      </p:sp>
      <p:sp>
        <p:nvSpPr>
          <p:cNvPr id="25" name="Text 23"/>
          <p:cNvSpPr/>
          <p:nvPr/>
        </p:nvSpPr>
        <p:spPr>
          <a:xfrm>
            <a:off x="9464040" y="1673352"/>
            <a:ext cx="2057400" cy="708660"/>
          </a:xfrm>
          <a:prstGeom prst="rect">
            <a:avLst/>
          </a:prstGeom>
          <a:noFill/>
          <a:ln/>
        </p:spPr>
        <p:txBody>
          <a:bodyPr wrap="square" lIns="0" tIns="0" rIns="0" bIns="0" rtlCol="0" anchor="b">
            <a:normAutofit/>
          </a:bodyPr>
          <a:lstStyle/>
          <a:p>
            <a:pPr algn="l" indent="0" marL="0">
              <a:buNone/>
            </a:pPr>
            <a:r>
              <a:rPr lang="en-US" sz="2600" b="1" dirty="0">
                <a:solidFill>
                  <a:srgbClr val="D64550"/>
                </a:solidFill>
                <a:latin typeface="Arial" pitchFamily="34" charset="0"/>
                <a:ea typeface="Arial" pitchFamily="34" charset="-122"/>
                <a:cs typeface="Arial" pitchFamily="34" charset="-120"/>
              </a:rPr>
              <a:t>30.9%</a:t>
            </a:r>
            <a:endParaRPr lang="en-US" sz="2600" dirty="0"/>
          </a:p>
        </p:txBody>
      </p:sp>
      <p:sp>
        <p:nvSpPr>
          <p:cNvPr id="26" name="Text 24"/>
          <p:cNvSpPr/>
          <p:nvPr/>
        </p:nvSpPr>
        <p:spPr>
          <a:xfrm>
            <a:off x="9464040" y="2422246"/>
            <a:ext cx="2057400" cy="566928"/>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Restaurants with delivery</a:t>
            </a:r>
            <a:endParaRPr lang="en-US" sz="1100" dirty="0"/>
          </a:p>
          <a:p>
            <a:pPr algn="l" indent="0" marL="0">
              <a:buNone/>
            </a:pPr>
            <a:r>
              <a:rPr lang="en-US" sz="1100" dirty="0">
                <a:solidFill>
                  <a:srgbClr val="6B7280"/>
                </a:solidFill>
                <a:latin typeface="Arial" pitchFamily="34" charset="0"/>
                <a:ea typeface="Arial" pitchFamily="34" charset="-122"/>
                <a:cs typeface="Arial" pitchFamily="34" charset="-120"/>
              </a:rPr>
              <a:t>time above 60 minutes</a:t>
            </a:r>
            <a:endParaRPr lang="en-US" sz="1100" dirty="0"/>
          </a:p>
          <a:p>
            <a:pPr algn="l" indent="0" marL="0">
              <a:buNone/>
            </a:pPr>
            <a:r>
              <a:rPr lang="en-US" sz="1100" dirty="0">
                <a:solidFill>
                  <a:srgbClr val="6B7280"/>
                </a:solidFill>
                <a:latin typeface="Arial" pitchFamily="34" charset="0"/>
                <a:ea typeface="Arial" pitchFamily="34" charset="-122"/>
                <a:cs typeface="Arial" pitchFamily="34" charset="-120"/>
              </a:rPr>
              <a:t>(SLA breach zone)</a:t>
            </a:r>
            <a:endParaRPr lang="en-US" sz="1100" dirty="0"/>
          </a:p>
        </p:txBody>
      </p:sp>
      <p:sp>
        <p:nvSpPr>
          <p:cNvPr id="27" name="Shape 25"/>
          <p:cNvSpPr/>
          <p:nvPr/>
        </p:nvSpPr>
        <p:spPr>
          <a:xfrm>
            <a:off x="6720840" y="3200400"/>
            <a:ext cx="2377440" cy="1417320"/>
          </a:xfrm>
          <a:prstGeom prst="roundRect">
            <a:avLst>
              <a:gd name="adj" fmla="val 5161"/>
            </a:avLst>
          </a:prstGeom>
          <a:solidFill>
            <a:srgbClr val="F5F5F6"/>
          </a:solidFill>
          <a:ln/>
        </p:spPr>
      </p:sp>
      <p:sp>
        <p:nvSpPr>
          <p:cNvPr id="28" name="Text 26"/>
          <p:cNvSpPr/>
          <p:nvPr/>
        </p:nvSpPr>
        <p:spPr>
          <a:xfrm>
            <a:off x="6903720" y="3273552"/>
            <a:ext cx="2011680" cy="708660"/>
          </a:xfrm>
          <a:prstGeom prst="rect">
            <a:avLst/>
          </a:prstGeom>
          <a:noFill/>
          <a:ln/>
        </p:spPr>
        <p:txBody>
          <a:bodyPr wrap="square" lIns="0" tIns="0" rIns="0" bIns="0" rtlCol="0" anchor="b">
            <a:normAutofit/>
          </a:bodyPr>
          <a:lstStyle/>
          <a:p>
            <a:pPr algn="l" indent="0" marL="0">
              <a:buNone/>
            </a:pPr>
            <a:r>
              <a:rPr lang="en-US" sz="2600" b="1" dirty="0">
                <a:solidFill>
                  <a:srgbClr val="E06F10"/>
                </a:solidFill>
                <a:latin typeface="Arial" pitchFamily="34" charset="0"/>
                <a:ea typeface="Arial" pitchFamily="34" charset="-122"/>
                <a:cs typeface="Arial" pitchFamily="34" charset="-120"/>
              </a:rPr>
              <a:t>40.6%</a:t>
            </a:r>
            <a:endParaRPr lang="en-US" sz="2600" dirty="0"/>
          </a:p>
        </p:txBody>
      </p:sp>
      <p:sp>
        <p:nvSpPr>
          <p:cNvPr id="29" name="Text 27"/>
          <p:cNvSpPr/>
          <p:nvPr/>
        </p:nvSpPr>
        <p:spPr>
          <a:xfrm>
            <a:off x="6903720" y="4022446"/>
            <a:ext cx="2011680" cy="566928"/>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Restaurants rated below</a:t>
            </a:r>
            <a:endParaRPr lang="en-US" sz="1100" dirty="0"/>
          </a:p>
          <a:p>
            <a:pPr algn="l" indent="0" marL="0">
              <a:buNone/>
            </a:pPr>
            <a:r>
              <a:rPr lang="en-US" sz="1100" dirty="0">
                <a:solidFill>
                  <a:srgbClr val="6B7280"/>
                </a:solidFill>
                <a:latin typeface="Arial" pitchFamily="34" charset="0"/>
                <a:ea typeface="Arial" pitchFamily="34" charset="-122"/>
                <a:cs typeface="Arial" pitchFamily="34" charset="-120"/>
              </a:rPr>
              <a:t>3.5 / 5 — a significant</a:t>
            </a:r>
            <a:endParaRPr lang="en-US" sz="1100" dirty="0"/>
          </a:p>
          <a:p>
            <a:pPr algn="l" indent="0" marL="0">
              <a:buNone/>
            </a:pPr>
            <a:r>
              <a:rPr lang="en-US" sz="1100" dirty="0">
                <a:solidFill>
                  <a:srgbClr val="6B7280"/>
                </a:solidFill>
                <a:latin typeface="Arial" pitchFamily="34" charset="0"/>
                <a:ea typeface="Arial" pitchFamily="34" charset="-122"/>
                <a:cs typeface="Arial" pitchFamily="34" charset="-120"/>
              </a:rPr>
              <a:t>quality gap</a:t>
            </a:r>
            <a:endParaRPr lang="en-US" sz="1100" dirty="0"/>
          </a:p>
        </p:txBody>
      </p:sp>
      <p:sp>
        <p:nvSpPr>
          <p:cNvPr id="30" name="Shape 28"/>
          <p:cNvSpPr/>
          <p:nvPr/>
        </p:nvSpPr>
        <p:spPr>
          <a:xfrm>
            <a:off x="9281160" y="3200400"/>
            <a:ext cx="2423160" cy="1417320"/>
          </a:xfrm>
          <a:prstGeom prst="roundRect">
            <a:avLst>
              <a:gd name="adj" fmla="val 5161"/>
            </a:avLst>
          </a:prstGeom>
          <a:solidFill>
            <a:srgbClr val="F5F5F6"/>
          </a:solidFill>
          <a:ln/>
        </p:spPr>
      </p:sp>
      <p:sp>
        <p:nvSpPr>
          <p:cNvPr id="31" name="Text 29"/>
          <p:cNvSpPr/>
          <p:nvPr/>
        </p:nvSpPr>
        <p:spPr>
          <a:xfrm>
            <a:off x="9464040" y="3273552"/>
            <a:ext cx="2057400" cy="708660"/>
          </a:xfrm>
          <a:prstGeom prst="rect">
            <a:avLst/>
          </a:prstGeom>
          <a:noFill/>
          <a:ln/>
        </p:spPr>
        <p:txBody>
          <a:bodyPr wrap="square" lIns="0" tIns="0" rIns="0" bIns="0" rtlCol="0" anchor="b">
            <a:normAutofit/>
          </a:bodyPr>
          <a:lstStyle/>
          <a:p>
            <a:pPr algn="l" indent="0" marL="0">
              <a:buNone/>
            </a:pPr>
            <a:r>
              <a:rPr lang="en-US" sz="2600" b="1" dirty="0">
                <a:solidFill>
                  <a:srgbClr val="282C3F"/>
                </a:solidFill>
                <a:latin typeface="Arial" pitchFamily="34" charset="0"/>
                <a:ea typeface="Arial" pitchFamily="34" charset="-122"/>
                <a:cs typeface="Arial" pitchFamily="34" charset="-120"/>
              </a:rPr>
              <a:t>54 min</a:t>
            </a:r>
            <a:endParaRPr lang="en-US" sz="2600" dirty="0"/>
          </a:p>
        </p:txBody>
      </p:sp>
      <p:sp>
        <p:nvSpPr>
          <p:cNvPr id="32" name="Text 30"/>
          <p:cNvSpPr/>
          <p:nvPr/>
        </p:nvSpPr>
        <p:spPr>
          <a:xfrm>
            <a:off x="9464040" y="4022446"/>
            <a:ext cx="2057400" cy="566928"/>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Platform-wide average</a:t>
            </a:r>
            <a:endParaRPr lang="en-US" sz="1100" dirty="0"/>
          </a:p>
          <a:p>
            <a:pPr algn="l" indent="0" marL="0">
              <a:buNone/>
            </a:pPr>
            <a:r>
              <a:rPr lang="en-US" sz="1100" dirty="0">
                <a:solidFill>
                  <a:srgbClr val="6B7280"/>
                </a:solidFill>
                <a:latin typeface="Arial" pitchFamily="34" charset="0"/>
                <a:ea typeface="Arial" pitchFamily="34" charset="-122"/>
                <a:cs typeface="Arial" pitchFamily="34" charset="-120"/>
              </a:rPr>
              <a:t>delivery time across all</a:t>
            </a:r>
            <a:endParaRPr lang="en-US" sz="1100" dirty="0"/>
          </a:p>
          <a:p>
            <a:pPr algn="l" indent="0" marL="0">
              <a:buNone/>
            </a:pPr>
            <a:r>
              <a:rPr lang="en-US" sz="1100" dirty="0">
                <a:solidFill>
                  <a:srgbClr val="6B7280"/>
                </a:solidFill>
                <a:latin typeface="Arial" pitchFamily="34" charset="0"/>
                <a:ea typeface="Arial" pitchFamily="34" charset="-122"/>
                <a:cs typeface="Arial" pitchFamily="34" charset="-120"/>
              </a:rPr>
              <a:t>8,680 restaurants</a:t>
            </a:r>
            <a:endParaRPr lang="en-US" sz="1100" dirty="0"/>
          </a:p>
        </p:txBody>
      </p:sp>
      <p:sp>
        <p:nvSpPr>
          <p:cNvPr id="33" name="Shape 31"/>
          <p:cNvSpPr/>
          <p:nvPr/>
        </p:nvSpPr>
        <p:spPr>
          <a:xfrm>
            <a:off x="6720840" y="4800600"/>
            <a:ext cx="4983480" cy="1051560"/>
          </a:xfrm>
          <a:prstGeom prst="roundRect">
            <a:avLst>
              <a:gd name="adj" fmla="val 6957"/>
            </a:avLst>
          </a:prstGeom>
          <a:solidFill>
            <a:srgbClr val="282C3F"/>
          </a:solidFill>
          <a:ln/>
        </p:spPr>
      </p:sp>
      <p:sp>
        <p:nvSpPr>
          <p:cNvPr id="34" name="Text 32"/>
          <p:cNvSpPr/>
          <p:nvPr/>
        </p:nvSpPr>
        <p:spPr>
          <a:xfrm>
            <a:off x="6949440" y="4937760"/>
            <a:ext cx="4526280" cy="822960"/>
          </a:xfrm>
          <a:prstGeom prst="rect">
            <a:avLst/>
          </a:prstGeom>
          <a:noFill/>
          <a:ln/>
        </p:spPr>
        <p:txBody>
          <a:bodyPr wrap="square" lIns="0" tIns="0" rIns="0" bIns="0" rtlCol="0" anchor="ctr"/>
          <a:lstStyle/>
          <a:p>
            <a:pPr indent="0" marL="0">
              <a:buNone/>
            </a:pPr>
            <a:r>
              <a:rPr lang="en-US" sz="1150" i="1" dirty="0">
                <a:solidFill>
                  <a:srgbClr val="E7E9F0"/>
                </a:solidFill>
                <a:latin typeface="Arial" pitchFamily="34" charset="0"/>
                <a:ea typeface="Arial" pitchFamily="34" charset="-122"/>
                <a:cs typeface="Arial" pitchFamily="34" charset="-120"/>
              </a:rPr>
              <a:t>These figures are computed directly from the raw dataset — not assumptions — which is what makes them actionable.</a:t>
            </a:r>
            <a:endParaRPr lang="en-US" sz="1150" dirty="0"/>
          </a:p>
        </p:txBody>
      </p:sp>
      <p:sp>
        <p:nvSpPr>
          <p:cNvPr id="35" name="Text 33"/>
          <p:cNvSpPr/>
          <p:nvPr/>
        </p:nvSpPr>
        <p:spPr>
          <a:xfrm>
            <a:off x="457200" y="6547104"/>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Swiggy Operations &amp; Performance Analysis</a:t>
            </a:r>
            <a:endParaRPr lang="en-US" sz="900" dirty="0"/>
          </a:p>
        </p:txBody>
      </p:sp>
      <p:sp>
        <p:nvSpPr>
          <p:cNvPr id="36" name="Text 34"/>
          <p:cNvSpPr/>
          <p:nvPr/>
        </p:nvSpPr>
        <p:spPr>
          <a:xfrm>
            <a:off x="11521440" y="6547104"/>
            <a:ext cx="274320" cy="256032"/>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502920" cy="502920"/>
          </a:xfrm>
          <a:prstGeom prst="ellipse">
            <a:avLst/>
          </a:prstGeom>
          <a:solidFill>
            <a:srgbClr val="FC8019"/>
          </a:solidFill>
          <a:ln/>
        </p:spPr>
      </p:sp>
      <p:sp>
        <p:nvSpPr>
          <p:cNvPr id="3" name="Text 1"/>
          <p:cNvSpPr/>
          <p:nvPr/>
        </p:nvSpPr>
        <p:spPr>
          <a:xfrm>
            <a:off x="457200" y="365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02</a:t>
            </a:r>
            <a:endParaRPr lang="en-US" sz="1800" dirty="0"/>
          </a:p>
        </p:txBody>
      </p:sp>
      <p:sp>
        <p:nvSpPr>
          <p:cNvPr id="4" name="Text 2"/>
          <p:cNvSpPr/>
          <p:nvPr/>
        </p:nvSpPr>
        <p:spPr>
          <a:xfrm>
            <a:off x="1097280" y="320040"/>
            <a:ext cx="10607040" cy="594360"/>
          </a:xfrm>
          <a:prstGeom prst="rect">
            <a:avLst/>
          </a:prstGeom>
          <a:noFill/>
          <a:ln/>
        </p:spPr>
        <p:txBody>
          <a:bodyPr wrap="square" lIns="0" tIns="0" rIns="0" bIns="0" rtlCol="0" anchor="ctr"/>
          <a:lstStyle/>
          <a:p>
            <a:pPr algn="l" indent="0" marL="0">
              <a:buNone/>
            </a:pPr>
            <a:r>
              <a:rPr lang="en-US" sz="2600" b="1" dirty="0">
                <a:solidFill>
                  <a:srgbClr val="282C3F"/>
                </a:solidFill>
                <a:latin typeface="Arial" pitchFamily="34" charset="0"/>
                <a:ea typeface="Arial" pitchFamily="34" charset="-122"/>
                <a:cs typeface="Arial" pitchFamily="34" charset="-120"/>
              </a:rPr>
              <a:t>Methodology: Data Cleaning &amp; Feature Engineering</a:t>
            </a:r>
            <a:endParaRPr lang="en-US" sz="2600" dirty="0"/>
          </a:p>
        </p:txBody>
      </p:sp>
      <p:sp>
        <p:nvSpPr>
          <p:cNvPr id="5" name="Text 3"/>
          <p:cNvSpPr/>
          <p:nvPr/>
        </p:nvSpPr>
        <p:spPr>
          <a:xfrm>
            <a:off x="457200" y="1188720"/>
            <a:ext cx="5120640" cy="320040"/>
          </a:xfrm>
          <a:prstGeom prst="rect">
            <a:avLst/>
          </a:prstGeom>
          <a:noFill/>
          <a:ln/>
        </p:spPr>
        <p:txBody>
          <a:bodyPr wrap="square" lIns="0" tIns="0" rIns="0" bIns="0" rtlCol="0" anchor="ctr"/>
          <a:lstStyle/>
          <a:p>
            <a:pPr indent="0" marL="0">
              <a:buNone/>
            </a:pPr>
            <a:r>
              <a:rPr lang="en-US" sz="1300" b="1" spc="100" kern="0" dirty="0">
                <a:solidFill>
                  <a:srgbClr val="FC8019"/>
                </a:solidFill>
                <a:latin typeface="Arial" pitchFamily="34" charset="0"/>
                <a:ea typeface="Arial" pitchFamily="34" charset="-122"/>
                <a:cs typeface="Arial" pitchFamily="34" charset="-120"/>
              </a:rPr>
              <a:t>DATASET SNAPSHOT</a:t>
            </a:r>
            <a:endParaRPr lang="en-US" sz="1300" dirty="0"/>
          </a:p>
        </p:txBody>
      </p:sp>
      <p:sp>
        <p:nvSpPr>
          <p:cNvPr id="6" name="Shape 4"/>
          <p:cNvSpPr/>
          <p:nvPr/>
        </p:nvSpPr>
        <p:spPr>
          <a:xfrm>
            <a:off x="457200" y="1536192"/>
            <a:ext cx="5120640" cy="1417320"/>
          </a:xfrm>
          <a:prstGeom prst="roundRect">
            <a:avLst>
              <a:gd name="adj" fmla="val 5161"/>
            </a:avLst>
          </a:prstGeom>
          <a:solidFill>
            <a:srgbClr val="F5F5F6"/>
          </a:solidFill>
          <a:ln/>
        </p:spPr>
      </p:sp>
      <p:sp>
        <p:nvSpPr>
          <p:cNvPr id="7" name="Text 5"/>
          <p:cNvSpPr/>
          <p:nvPr/>
        </p:nvSpPr>
        <p:spPr>
          <a:xfrm>
            <a:off x="640080" y="1664208"/>
            <a:ext cx="4754880" cy="1188720"/>
          </a:xfrm>
          <a:prstGeom prst="rect">
            <a:avLst/>
          </a:prstGeom>
          <a:noFill/>
          <a:ln/>
        </p:spPr>
        <p:txBody>
          <a:bodyPr wrap="square" lIns="0" tIns="0" rIns="0" bIns="0" rtlCol="0" anchor="t"/>
          <a:lstStyle/>
          <a:p>
            <a:pPr indent="0" marL="0">
              <a:lnSpc>
                <a:spcPct val="120000"/>
              </a:lnSpc>
              <a:buNone/>
            </a:pPr>
            <a:r>
              <a:rPr lang="en-US" sz="1300" b="1" dirty="0">
                <a:solidFill>
                  <a:srgbClr val="282C3F"/>
                </a:solidFill>
                <a:latin typeface="Arial" pitchFamily="34" charset="0"/>
                <a:ea typeface="Arial" pitchFamily="34" charset="-122"/>
                <a:cs typeface="Arial" pitchFamily="34" charset="-120"/>
              </a:rPr>
              <a:t>8,680 rows x 10 columns</a:t>
            </a:r>
            <a:endParaRPr lang="en-US" sz="1300" dirty="0"/>
          </a:p>
          <a:p>
            <a:pPr indent="0" marL="0">
              <a:lnSpc>
                <a:spcPct val="120000"/>
              </a:lnSpc>
              <a:buNone/>
            </a:pPr>
            <a:r>
              <a:rPr lang="en-US" sz="1150" dirty="0">
                <a:solidFill>
                  <a:srgbClr val="6B7280"/>
                </a:solidFill>
                <a:latin typeface="Arial" pitchFamily="34" charset="0"/>
                <a:ea typeface="Arial" pitchFamily="34" charset="-122"/>
                <a:cs typeface="Arial" pitchFamily="34" charset="-120"/>
              </a:rPr>
              <a:t>Area, City, Restaurant, Price, Avg Ratings, Total Ratings, Food Type, Address, Delivery Time</a:t>
            </a:r>
            <a:endParaRPr lang="en-US" sz="1300" dirty="0"/>
          </a:p>
          <a:p>
            <a:pPr indent="0" marL="0">
              <a:lnSpc>
                <a:spcPct val="120000"/>
              </a:lnSpc>
              <a:buNone/>
            </a:pPr>
            <a:r>
              <a:rPr lang="en-US" sz="1250" b="1" dirty="0">
                <a:solidFill>
                  <a:srgbClr val="60B246"/>
                </a:solidFill>
                <a:latin typeface="Arial" pitchFamily="34" charset="0"/>
                <a:ea typeface="Arial" pitchFamily="34" charset="-122"/>
                <a:cs typeface="Arial" pitchFamily="34" charset="-120"/>
              </a:rPr>
              <a:t>0 missing values  |  0 duplicate restaurant IDs -&gt; clean, analysis-ready dataset</a:t>
            </a:r>
            <a:endParaRPr lang="en-US" sz="1300" dirty="0"/>
          </a:p>
        </p:txBody>
      </p:sp>
      <p:sp>
        <p:nvSpPr>
          <p:cNvPr id="8" name="Text 6"/>
          <p:cNvSpPr/>
          <p:nvPr/>
        </p:nvSpPr>
        <p:spPr>
          <a:xfrm>
            <a:off x="457200" y="3154680"/>
            <a:ext cx="5120640" cy="320040"/>
          </a:xfrm>
          <a:prstGeom prst="rect">
            <a:avLst/>
          </a:prstGeom>
          <a:noFill/>
          <a:ln/>
        </p:spPr>
        <p:txBody>
          <a:bodyPr wrap="square" lIns="0" tIns="0" rIns="0" bIns="0" rtlCol="0" anchor="ctr"/>
          <a:lstStyle/>
          <a:p>
            <a:pPr indent="0" marL="0">
              <a:buNone/>
            </a:pPr>
            <a:r>
              <a:rPr lang="en-US" sz="1300" b="1" spc="100" kern="0" dirty="0">
                <a:solidFill>
                  <a:srgbClr val="FC8019"/>
                </a:solidFill>
                <a:latin typeface="Arial" pitchFamily="34" charset="0"/>
                <a:ea typeface="Arial" pitchFamily="34" charset="-122"/>
                <a:cs typeface="Arial" pitchFamily="34" charset="-120"/>
              </a:rPr>
              <a:t>DATA LIMITATION (HANDLED HONESTLY)</a:t>
            </a:r>
            <a:endParaRPr lang="en-US" sz="1300" dirty="0"/>
          </a:p>
        </p:txBody>
      </p:sp>
      <p:sp>
        <p:nvSpPr>
          <p:cNvPr id="9" name="Shape 7"/>
          <p:cNvSpPr/>
          <p:nvPr/>
        </p:nvSpPr>
        <p:spPr>
          <a:xfrm>
            <a:off x="457200" y="3502152"/>
            <a:ext cx="5120640" cy="1737360"/>
          </a:xfrm>
          <a:prstGeom prst="roundRect">
            <a:avLst>
              <a:gd name="adj" fmla="val 4211"/>
            </a:avLst>
          </a:prstGeom>
          <a:solidFill>
            <a:srgbClr val="FFF3EA"/>
          </a:solidFill>
          <a:ln/>
        </p:spPr>
      </p:sp>
      <p:sp>
        <p:nvSpPr>
          <p:cNvPr id="10" name="Text 8"/>
          <p:cNvSpPr/>
          <p:nvPr/>
        </p:nvSpPr>
        <p:spPr>
          <a:xfrm>
            <a:off x="640080" y="3639312"/>
            <a:ext cx="4754880" cy="1463040"/>
          </a:xfrm>
          <a:prstGeom prst="rect">
            <a:avLst/>
          </a:prstGeom>
          <a:noFill/>
          <a:ln/>
        </p:spPr>
        <p:txBody>
          <a:bodyPr wrap="square" lIns="0" tIns="0" rIns="0" bIns="0" rtlCol="0" anchor="t"/>
          <a:lstStyle/>
          <a:p>
            <a:pPr indent="0" marL="0">
              <a:lnSpc>
                <a:spcPct val="125000"/>
              </a:lnSpc>
              <a:buNone/>
            </a:pPr>
            <a:r>
              <a:rPr lang="en-US" sz="1250" dirty="0">
                <a:solidFill>
                  <a:srgbClr val="2A2E3F"/>
                </a:solidFill>
                <a:latin typeface="Arial" pitchFamily="34" charset="0"/>
                <a:ea typeface="Arial" pitchFamily="34" charset="-122"/>
                <a:cs typeface="Arial" pitchFamily="34" charset="-120"/>
              </a:rPr>
              <a:t>This dataset has no order-level timestamp or cancellation flag, so literal 'peak hour' and 'cancellation rate' metrics cannot be computed. I engineered defensible proxies instead: listing volume &amp; review counts as a demand signal, and delivery-time SLA breaches as the operational-bottleneck signal.</a:t>
            </a:r>
            <a:endParaRPr lang="en-US" sz="1250" dirty="0"/>
          </a:p>
        </p:txBody>
      </p:sp>
      <p:sp>
        <p:nvSpPr>
          <p:cNvPr id="11" name="Text 9"/>
          <p:cNvSpPr/>
          <p:nvPr/>
        </p:nvSpPr>
        <p:spPr>
          <a:xfrm>
            <a:off x="5989320" y="1188720"/>
            <a:ext cx="5760720" cy="320040"/>
          </a:xfrm>
          <a:prstGeom prst="rect">
            <a:avLst/>
          </a:prstGeom>
          <a:noFill/>
          <a:ln/>
        </p:spPr>
        <p:txBody>
          <a:bodyPr wrap="square" lIns="0" tIns="0" rIns="0" bIns="0" rtlCol="0" anchor="ctr"/>
          <a:lstStyle/>
          <a:p>
            <a:pPr indent="0" marL="0">
              <a:buNone/>
            </a:pPr>
            <a:r>
              <a:rPr lang="en-US" sz="1300" b="1" spc="100" kern="0" dirty="0">
                <a:solidFill>
                  <a:srgbClr val="FC8019"/>
                </a:solidFill>
                <a:latin typeface="Arial" pitchFamily="34" charset="0"/>
                <a:ea typeface="Arial" pitchFamily="34" charset="-122"/>
                <a:cs typeface="Arial" pitchFamily="34" charset="-120"/>
              </a:rPr>
              <a:t>ANALYSIS PIPELINE</a:t>
            </a:r>
            <a:endParaRPr lang="en-US" sz="1300" dirty="0"/>
          </a:p>
        </p:txBody>
      </p:sp>
      <p:sp>
        <p:nvSpPr>
          <p:cNvPr id="12" name="Shape 10"/>
          <p:cNvSpPr/>
          <p:nvPr/>
        </p:nvSpPr>
        <p:spPr>
          <a:xfrm>
            <a:off x="5989320" y="1691640"/>
            <a:ext cx="1143000" cy="1371600"/>
          </a:xfrm>
          <a:prstGeom prst="roundRect">
            <a:avLst>
              <a:gd name="adj" fmla="val 6400"/>
            </a:avLst>
          </a:prstGeom>
          <a:solidFill>
            <a:srgbClr val="282C3F"/>
          </a:solidFill>
          <a:ln/>
        </p:spPr>
      </p:sp>
      <p:sp>
        <p:nvSpPr>
          <p:cNvPr id="13" name="Text 11"/>
          <p:cNvSpPr/>
          <p:nvPr/>
        </p:nvSpPr>
        <p:spPr>
          <a:xfrm>
            <a:off x="6044184" y="1810512"/>
            <a:ext cx="1033272"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Raw Data</a:t>
            </a:r>
            <a:endParaRPr lang="en-US" sz="1150" dirty="0"/>
          </a:p>
        </p:txBody>
      </p:sp>
      <p:sp>
        <p:nvSpPr>
          <p:cNvPr id="14" name="Text 12"/>
          <p:cNvSpPr/>
          <p:nvPr/>
        </p:nvSpPr>
        <p:spPr>
          <a:xfrm>
            <a:off x="6044184" y="2514600"/>
            <a:ext cx="1033272" cy="457200"/>
          </a:xfrm>
          <a:prstGeom prst="rect">
            <a:avLst/>
          </a:prstGeom>
          <a:noFill/>
          <a:ln/>
        </p:spPr>
        <p:txBody>
          <a:bodyPr wrap="square" lIns="0" tIns="0" rIns="0" bIns="0" rtlCol="0" anchor="t"/>
          <a:lstStyle/>
          <a:p>
            <a:pPr algn="ctr" indent="0" marL="0">
              <a:buNone/>
            </a:pPr>
            <a:r>
              <a:rPr lang="en-US" sz="900" dirty="0">
                <a:solidFill>
                  <a:srgbClr val="D8DAE6"/>
                </a:solidFill>
                <a:latin typeface="Arial" pitchFamily="34" charset="0"/>
                <a:ea typeface="Arial" pitchFamily="34" charset="-122"/>
                <a:cs typeface="Arial" pitchFamily="34" charset="-120"/>
              </a:rPr>
              <a:t>8,680 x 10 fields</a:t>
            </a:r>
            <a:endParaRPr lang="en-US" sz="900" dirty="0"/>
          </a:p>
        </p:txBody>
      </p:sp>
      <p:sp>
        <p:nvSpPr>
          <p:cNvPr id="15" name="Text 13"/>
          <p:cNvSpPr/>
          <p:nvPr/>
        </p:nvSpPr>
        <p:spPr>
          <a:xfrm>
            <a:off x="7132320" y="1691640"/>
            <a:ext cx="320040" cy="1371600"/>
          </a:xfrm>
          <a:prstGeom prst="rect">
            <a:avLst/>
          </a:prstGeom>
          <a:noFill/>
          <a:ln/>
        </p:spPr>
        <p:txBody>
          <a:bodyPr wrap="square" lIns="0" tIns="0" rIns="0" bIns="0" rtlCol="0" anchor="ctr"/>
          <a:lstStyle/>
          <a:p>
            <a:pPr algn="ctr" indent="0" marL="0">
              <a:buNone/>
            </a:pPr>
            <a:r>
              <a:rPr lang="en-US" sz="1600" b="1" dirty="0">
                <a:solidFill>
                  <a:srgbClr val="6B7280"/>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7452360" y="1691640"/>
            <a:ext cx="1143000" cy="1371600"/>
          </a:xfrm>
          <a:prstGeom prst="roundRect">
            <a:avLst>
              <a:gd name="adj" fmla="val 6400"/>
            </a:avLst>
          </a:prstGeom>
          <a:solidFill>
            <a:srgbClr val="282C3F"/>
          </a:solidFill>
          <a:ln/>
        </p:spPr>
      </p:sp>
      <p:sp>
        <p:nvSpPr>
          <p:cNvPr id="17" name="Text 15"/>
          <p:cNvSpPr/>
          <p:nvPr/>
        </p:nvSpPr>
        <p:spPr>
          <a:xfrm>
            <a:off x="7507224" y="1810512"/>
            <a:ext cx="1033272"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Clean &amp; Validate</a:t>
            </a:r>
            <a:endParaRPr lang="en-US" sz="1150" dirty="0"/>
          </a:p>
        </p:txBody>
      </p:sp>
      <p:sp>
        <p:nvSpPr>
          <p:cNvPr id="18" name="Text 16"/>
          <p:cNvSpPr/>
          <p:nvPr/>
        </p:nvSpPr>
        <p:spPr>
          <a:xfrm>
            <a:off x="7507224" y="2514600"/>
            <a:ext cx="1033272" cy="457200"/>
          </a:xfrm>
          <a:prstGeom prst="rect">
            <a:avLst/>
          </a:prstGeom>
          <a:noFill/>
          <a:ln/>
        </p:spPr>
        <p:txBody>
          <a:bodyPr wrap="square" lIns="0" tIns="0" rIns="0" bIns="0" rtlCol="0" anchor="t"/>
          <a:lstStyle/>
          <a:p>
            <a:pPr algn="ctr" indent="0" marL="0">
              <a:buNone/>
            </a:pPr>
            <a:r>
              <a:rPr lang="en-US" sz="900" dirty="0">
                <a:solidFill>
                  <a:srgbClr val="D8DAE6"/>
                </a:solidFill>
                <a:latin typeface="Arial" pitchFamily="34" charset="0"/>
                <a:ea typeface="Arial" pitchFamily="34" charset="-122"/>
                <a:cs typeface="Arial" pitchFamily="34" charset="-120"/>
              </a:rPr>
              <a:t>0 nulls, 0 duplicates</a:t>
            </a:r>
            <a:endParaRPr lang="en-US" sz="900" dirty="0"/>
          </a:p>
        </p:txBody>
      </p:sp>
      <p:sp>
        <p:nvSpPr>
          <p:cNvPr id="19" name="Text 17"/>
          <p:cNvSpPr/>
          <p:nvPr/>
        </p:nvSpPr>
        <p:spPr>
          <a:xfrm>
            <a:off x="8595360" y="1691640"/>
            <a:ext cx="320040" cy="1371600"/>
          </a:xfrm>
          <a:prstGeom prst="rect">
            <a:avLst/>
          </a:prstGeom>
          <a:noFill/>
          <a:ln/>
        </p:spPr>
        <p:txBody>
          <a:bodyPr wrap="square" lIns="0" tIns="0" rIns="0" bIns="0" rtlCol="0" anchor="ctr"/>
          <a:lstStyle/>
          <a:p>
            <a:pPr algn="ctr" indent="0" marL="0">
              <a:buNone/>
            </a:pPr>
            <a:r>
              <a:rPr lang="en-US" sz="1600" b="1" dirty="0">
                <a:solidFill>
                  <a:srgbClr val="6B7280"/>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8915400" y="1691640"/>
            <a:ext cx="1143000" cy="1371600"/>
          </a:xfrm>
          <a:prstGeom prst="roundRect">
            <a:avLst>
              <a:gd name="adj" fmla="val 6400"/>
            </a:avLst>
          </a:prstGeom>
          <a:solidFill>
            <a:srgbClr val="282C3F"/>
          </a:solidFill>
          <a:ln/>
        </p:spPr>
      </p:sp>
      <p:sp>
        <p:nvSpPr>
          <p:cNvPr id="21" name="Text 19"/>
          <p:cNvSpPr/>
          <p:nvPr/>
        </p:nvSpPr>
        <p:spPr>
          <a:xfrm>
            <a:off x="8970264" y="1810512"/>
            <a:ext cx="1033272"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Feature Engineer</a:t>
            </a:r>
            <a:endParaRPr lang="en-US" sz="1150" dirty="0"/>
          </a:p>
        </p:txBody>
      </p:sp>
      <p:sp>
        <p:nvSpPr>
          <p:cNvPr id="22" name="Text 20"/>
          <p:cNvSpPr/>
          <p:nvPr/>
        </p:nvSpPr>
        <p:spPr>
          <a:xfrm>
            <a:off x="8970264" y="2514600"/>
            <a:ext cx="1033272" cy="457200"/>
          </a:xfrm>
          <a:prstGeom prst="rect">
            <a:avLst/>
          </a:prstGeom>
          <a:noFill/>
          <a:ln/>
        </p:spPr>
        <p:txBody>
          <a:bodyPr wrap="square" lIns="0" tIns="0" rIns="0" bIns="0" rtlCol="0" anchor="t"/>
          <a:lstStyle/>
          <a:p>
            <a:pPr algn="ctr" indent="0" marL="0">
              <a:buNone/>
            </a:pPr>
            <a:r>
              <a:rPr lang="en-US" sz="900" dirty="0">
                <a:solidFill>
                  <a:srgbClr val="D8DAE6"/>
                </a:solidFill>
                <a:latin typeface="Arial" pitchFamily="34" charset="0"/>
                <a:ea typeface="Arial" pitchFamily="34" charset="-122"/>
                <a:cs typeface="Arial" pitchFamily="34" charset="-120"/>
              </a:rPr>
              <a:t>cuisine split, time bins</a:t>
            </a:r>
            <a:endParaRPr lang="en-US" sz="900" dirty="0"/>
          </a:p>
        </p:txBody>
      </p:sp>
      <p:sp>
        <p:nvSpPr>
          <p:cNvPr id="23" name="Text 21"/>
          <p:cNvSpPr/>
          <p:nvPr/>
        </p:nvSpPr>
        <p:spPr>
          <a:xfrm>
            <a:off x="10058400" y="1691640"/>
            <a:ext cx="320040" cy="1371600"/>
          </a:xfrm>
          <a:prstGeom prst="rect">
            <a:avLst/>
          </a:prstGeom>
          <a:noFill/>
          <a:ln/>
        </p:spPr>
        <p:txBody>
          <a:bodyPr wrap="square" lIns="0" tIns="0" rIns="0" bIns="0" rtlCol="0" anchor="ctr"/>
          <a:lstStyle/>
          <a:p>
            <a:pPr algn="ctr" indent="0" marL="0">
              <a:buNone/>
            </a:pPr>
            <a:r>
              <a:rPr lang="en-US" sz="1600" b="1" dirty="0">
                <a:solidFill>
                  <a:srgbClr val="6B7280"/>
                </a:solidFill>
                <a:latin typeface="Arial" pitchFamily="34" charset="0"/>
                <a:ea typeface="Arial" pitchFamily="34" charset="-122"/>
                <a:cs typeface="Arial" pitchFamily="34" charset="-120"/>
              </a:rPr>
              <a:t>→</a:t>
            </a:r>
            <a:endParaRPr lang="en-US" sz="1600" dirty="0"/>
          </a:p>
        </p:txBody>
      </p:sp>
      <p:sp>
        <p:nvSpPr>
          <p:cNvPr id="24" name="Shape 22"/>
          <p:cNvSpPr/>
          <p:nvPr/>
        </p:nvSpPr>
        <p:spPr>
          <a:xfrm>
            <a:off x="10378440" y="1691640"/>
            <a:ext cx="1143000" cy="1371600"/>
          </a:xfrm>
          <a:prstGeom prst="roundRect">
            <a:avLst>
              <a:gd name="adj" fmla="val 6400"/>
            </a:avLst>
          </a:prstGeom>
          <a:solidFill>
            <a:srgbClr val="FC8019"/>
          </a:solidFill>
          <a:ln/>
        </p:spPr>
      </p:sp>
      <p:sp>
        <p:nvSpPr>
          <p:cNvPr id="25" name="Text 23"/>
          <p:cNvSpPr/>
          <p:nvPr/>
        </p:nvSpPr>
        <p:spPr>
          <a:xfrm>
            <a:off x="10433304" y="1810512"/>
            <a:ext cx="1033272"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Aggregate</a:t>
            </a:r>
            <a:endParaRPr lang="en-US" sz="1150" dirty="0"/>
          </a:p>
        </p:txBody>
      </p:sp>
      <p:sp>
        <p:nvSpPr>
          <p:cNvPr id="26" name="Text 24"/>
          <p:cNvSpPr/>
          <p:nvPr/>
        </p:nvSpPr>
        <p:spPr>
          <a:xfrm>
            <a:off x="10433304" y="2514600"/>
            <a:ext cx="1033272" cy="457200"/>
          </a:xfrm>
          <a:prstGeom prst="rect">
            <a:avLst/>
          </a:prstGeom>
          <a:noFill/>
          <a:ln/>
        </p:spPr>
        <p:txBody>
          <a:bodyPr wrap="square" lIns="0" tIns="0" rIns="0" bIns="0" rtlCol="0" anchor="t"/>
          <a:lstStyle/>
          <a:p>
            <a:pPr algn="ctr" indent="0" marL="0">
              <a:buNone/>
            </a:pPr>
            <a:r>
              <a:rPr lang="en-US" sz="900" dirty="0">
                <a:solidFill>
                  <a:srgbClr val="D8DAE6"/>
                </a:solidFill>
                <a:latin typeface="Arial" pitchFamily="34" charset="0"/>
                <a:ea typeface="Arial" pitchFamily="34" charset="-122"/>
                <a:cs typeface="Arial" pitchFamily="34" charset="-120"/>
              </a:rPr>
              <a:t>City / Area KPIs</a:t>
            </a:r>
            <a:endParaRPr lang="en-US" sz="900" dirty="0"/>
          </a:p>
        </p:txBody>
      </p:sp>
      <p:sp>
        <p:nvSpPr>
          <p:cNvPr id="27" name="Text 25"/>
          <p:cNvSpPr/>
          <p:nvPr/>
        </p:nvSpPr>
        <p:spPr>
          <a:xfrm>
            <a:off x="5989320" y="3429000"/>
            <a:ext cx="5760720" cy="320040"/>
          </a:xfrm>
          <a:prstGeom prst="rect">
            <a:avLst/>
          </a:prstGeom>
          <a:noFill/>
          <a:ln/>
        </p:spPr>
        <p:txBody>
          <a:bodyPr wrap="square" lIns="0" tIns="0" rIns="0" bIns="0" rtlCol="0" anchor="ctr"/>
          <a:lstStyle/>
          <a:p>
            <a:pPr indent="0" marL="0">
              <a:buNone/>
            </a:pPr>
            <a:r>
              <a:rPr lang="en-US" sz="1300" b="1" spc="100" kern="0" dirty="0">
                <a:solidFill>
                  <a:srgbClr val="FC8019"/>
                </a:solidFill>
                <a:latin typeface="Arial" pitchFamily="34" charset="0"/>
                <a:ea typeface="Arial" pitchFamily="34" charset="-122"/>
                <a:cs typeface="Arial" pitchFamily="34" charset="-120"/>
              </a:rPr>
              <a:t>FEATURE ENGINEERING DETAIL</a:t>
            </a:r>
            <a:endParaRPr lang="en-US" sz="1300" dirty="0"/>
          </a:p>
        </p:txBody>
      </p:sp>
      <p:sp>
        <p:nvSpPr>
          <p:cNvPr id="28" name="Shape 26"/>
          <p:cNvSpPr/>
          <p:nvPr/>
        </p:nvSpPr>
        <p:spPr>
          <a:xfrm>
            <a:off x="5989320" y="3840480"/>
            <a:ext cx="82296" cy="82296"/>
          </a:xfrm>
          <a:prstGeom prst="ellipse">
            <a:avLst/>
          </a:prstGeom>
          <a:solidFill>
            <a:srgbClr val="FC8019"/>
          </a:solidFill>
          <a:ln/>
        </p:spPr>
      </p:sp>
      <p:sp>
        <p:nvSpPr>
          <p:cNvPr id="29" name="Text 27"/>
          <p:cNvSpPr/>
          <p:nvPr/>
        </p:nvSpPr>
        <p:spPr>
          <a:xfrm>
            <a:off x="6199632" y="3685032"/>
            <a:ext cx="5577840" cy="502920"/>
          </a:xfrm>
          <a:prstGeom prst="rect">
            <a:avLst/>
          </a:prstGeom>
          <a:noFill/>
          <a:ln/>
        </p:spPr>
        <p:txBody>
          <a:bodyPr wrap="square" lIns="0" tIns="0" rIns="0" bIns="0" rtlCol="0" anchor="t"/>
          <a:lstStyle/>
          <a:p>
            <a:pPr indent="0" marL="0">
              <a:lnSpc>
                <a:spcPct val="110000"/>
              </a:lnSpc>
              <a:buNone/>
            </a:pPr>
            <a:r>
              <a:rPr lang="en-US" sz="1200" dirty="0">
                <a:solidFill>
                  <a:srgbClr val="2A2E3F"/>
                </a:solidFill>
                <a:latin typeface="Arial" pitchFamily="34" charset="0"/>
                <a:ea typeface="Arial" pitchFamily="34" charset="-122"/>
                <a:cs typeface="Arial" pitchFamily="34" charset="-120"/>
              </a:rPr>
              <a:t>Exploded the multi-value "Food Type" field (comma-separated) into individual cuisine tags for cuisine-level demand counts</a:t>
            </a:r>
            <a:endParaRPr lang="en-US" sz="1200" dirty="0"/>
          </a:p>
        </p:txBody>
      </p:sp>
      <p:sp>
        <p:nvSpPr>
          <p:cNvPr id="30" name="Shape 28"/>
          <p:cNvSpPr/>
          <p:nvPr/>
        </p:nvSpPr>
        <p:spPr>
          <a:xfrm>
            <a:off x="5989320" y="4407408"/>
            <a:ext cx="82296" cy="82296"/>
          </a:xfrm>
          <a:prstGeom prst="ellipse">
            <a:avLst/>
          </a:prstGeom>
          <a:solidFill>
            <a:srgbClr val="FC8019"/>
          </a:solidFill>
          <a:ln/>
        </p:spPr>
      </p:sp>
      <p:sp>
        <p:nvSpPr>
          <p:cNvPr id="31" name="Text 29"/>
          <p:cNvSpPr/>
          <p:nvPr/>
        </p:nvSpPr>
        <p:spPr>
          <a:xfrm>
            <a:off x="6199632" y="4251960"/>
            <a:ext cx="5577840" cy="502920"/>
          </a:xfrm>
          <a:prstGeom prst="rect">
            <a:avLst/>
          </a:prstGeom>
          <a:noFill/>
          <a:ln/>
        </p:spPr>
        <p:txBody>
          <a:bodyPr wrap="square" lIns="0" tIns="0" rIns="0" bIns="0" rtlCol="0" anchor="t"/>
          <a:lstStyle/>
          <a:p>
            <a:pPr indent="0" marL="0">
              <a:lnSpc>
                <a:spcPct val="110000"/>
              </a:lnSpc>
              <a:buNone/>
            </a:pPr>
            <a:r>
              <a:rPr lang="en-US" sz="1200" dirty="0">
                <a:solidFill>
                  <a:srgbClr val="2A2E3F"/>
                </a:solidFill>
                <a:latin typeface="Arial" pitchFamily="34" charset="0"/>
                <a:ea typeface="Arial" pitchFamily="34" charset="-122"/>
                <a:cs typeface="Arial" pitchFamily="34" charset="-120"/>
              </a:rPr>
              <a:t>Binned "Delivery Time" into 6 SLA buckets (&lt;=30 to 90+ min) to size the bottleneck</a:t>
            </a:r>
            <a:endParaRPr lang="en-US" sz="1200" dirty="0"/>
          </a:p>
        </p:txBody>
      </p:sp>
      <p:sp>
        <p:nvSpPr>
          <p:cNvPr id="32" name="Shape 30"/>
          <p:cNvSpPr/>
          <p:nvPr/>
        </p:nvSpPr>
        <p:spPr>
          <a:xfrm>
            <a:off x="5989320" y="4974336"/>
            <a:ext cx="82296" cy="82296"/>
          </a:xfrm>
          <a:prstGeom prst="ellipse">
            <a:avLst/>
          </a:prstGeom>
          <a:solidFill>
            <a:srgbClr val="FC8019"/>
          </a:solidFill>
          <a:ln/>
        </p:spPr>
      </p:sp>
      <p:sp>
        <p:nvSpPr>
          <p:cNvPr id="33" name="Text 31"/>
          <p:cNvSpPr/>
          <p:nvPr/>
        </p:nvSpPr>
        <p:spPr>
          <a:xfrm>
            <a:off x="6199632" y="4818888"/>
            <a:ext cx="5577840" cy="502920"/>
          </a:xfrm>
          <a:prstGeom prst="rect">
            <a:avLst/>
          </a:prstGeom>
          <a:noFill/>
          <a:ln/>
        </p:spPr>
        <p:txBody>
          <a:bodyPr wrap="square" lIns="0" tIns="0" rIns="0" bIns="0" rtlCol="0" anchor="t"/>
          <a:lstStyle/>
          <a:p>
            <a:pPr indent="0" marL="0">
              <a:lnSpc>
                <a:spcPct val="110000"/>
              </a:lnSpc>
              <a:buNone/>
            </a:pPr>
            <a:r>
              <a:rPr lang="en-US" sz="1200" dirty="0">
                <a:solidFill>
                  <a:srgbClr val="2A2E3F"/>
                </a:solidFill>
                <a:latin typeface="Arial" pitchFamily="34" charset="0"/>
                <a:ea typeface="Arial" pitchFamily="34" charset="-122"/>
                <a:cs typeface="Arial" pitchFamily="34" charset="-120"/>
              </a:rPr>
              <a:t>Grouped by City and Area to benchmark avg. price, avg. rating &amp; avg. delivery time</a:t>
            </a:r>
            <a:endParaRPr lang="en-US" sz="1200" dirty="0"/>
          </a:p>
        </p:txBody>
      </p:sp>
      <p:sp>
        <p:nvSpPr>
          <p:cNvPr id="34" name="Shape 32"/>
          <p:cNvSpPr/>
          <p:nvPr/>
        </p:nvSpPr>
        <p:spPr>
          <a:xfrm>
            <a:off x="5989320" y="5541264"/>
            <a:ext cx="82296" cy="82296"/>
          </a:xfrm>
          <a:prstGeom prst="ellipse">
            <a:avLst/>
          </a:prstGeom>
          <a:solidFill>
            <a:srgbClr val="FC8019"/>
          </a:solidFill>
          <a:ln/>
        </p:spPr>
      </p:sp>
      <p:sp>
        <p:nvSpPr>
          <p:cNvPr id="35" name="Text 33"/>
          <p:cNvSpPr/>
          <p:nvPr/>
        </p:nvSpPr>
        <p:spPr>
          <a:xfrm>
            <a:off x="6199632" y="5385816"/>
            <a:ext cx="5577840" cy="502920"/>
          </a:xfrm>
          <a:prstGeom prst="rect">
            <a:avLst/>
          </a:prstGeom>
          <a:noFill/>
          <a:ln/>
        </p:spPr>
        <p:txBody>
          <a:bodyPr wrap="square" lIns="0" tIns="0" rIns="0" bIns="0" rtlCol="0" anchor="t"/>
          <a:lstStyle/>
          <a:p>
            <a:pPr indent="0" marL="0">
              <a:lnSpc>
                <a:spcPct val="110000"/>
              </a:lnSpc>
              <a:buNone/>
            </a:pPr>
            <a:r>
              <a:rPr lang="en-US" sz="1200" dirty="0">
                <a:solidFill>
                  <a:srgbClr val="2A2E3F"/>
                </a:solidFill>
                <a:latin typeface="Arial" pitchFamily="34" charset="0"/>
                <a:ea typeface="Arial" pitchFamily="34" charset="-122"/>
                <a:cs typeface="Arial" pitchFamily="34" charset="-120"/>
              </a:rPr>
              <a:t>Tools: Python (Pandas) for cleaning &amp; aggregation</a:t>
            </a:r>
            <a:endParaRPr lang="en-US" sz="1200" dirty="0"/>
          </a:p>
        </p:txBody>
      </p:sp>
      <p:sp>
        <p:nvSpPr>
          <p:cNvPr id="36" name="Text 34"/>
          <p:cNvSpPr/>
          <p:nvPr/>
        </p:nvSpPr>
        <p:spPr>
          <a:xfrm>
            <a:off x="457200" y="6547104"/>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Swiggy Operations &amp; Performance Analysis</a:t>
            </a:r>
            <a:endParaRPr lang="en-US" sz="900" dirty="0"/>
          </a:p>
        </p:txBody>
      </p:sp>
      <p:sp>
        <p:nvSpPr>
          <p:cNvPr id="37" name="Text 35"/>
          <p:cNvSpPr/>
          <p:nvPr/>
        </p:nvSpPr>
        <p:spPr>
          <a:xfrm>
            <a:off x="11521440" y="6547104"/>
            <a:ext cx="274320" cy="256032"/>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502920" cy="502920"/>
          </a:xfrm>
          <a:prstGeom prst="ellipse">
            <a:avLst/>
          </a:prstGeom>
          <a:solidFill>
            <a:srgbClr val="FC8019"/>
          </a:solidFill>
          <a:ln/>
        </p:spPr>
      </p:sp>
      <p:sp>
        <p:nvSpPr>
          <p:cNvPr id="3" name="Text 1"/>
          <p:cNvSpPr/>
          <p:nvPr/>
        </p:nvSpPr>
        <p:spPr>
          <a:xfrm>
            <a:off x="457200" y="365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03</a:t>
            </a:r>
            <a:endParaRPr lang="en-US" sz="1800" dirty="0"/>
          </a:p>
        </p:txBody>
      </p:sp>
      <p:sp>
        <p:nvSpPr>
          <p:cNvPr id="4" name="Text 2"/>
          <p:cNvSpPr/>
          <p:nvPr/>
        </p:nvSpPr>
        <p:spPr>
          <a:xfrm>
            <a:off x="1097280" y="320040"/>
            <a:ext cx="10607040" cy="594360"/>
          </a:xfrm>
          <a:prstGeom prst="rect">
            <a:avLst/>
          </a:prstGeom>
          <a:noFill/>
          <a:ln/>
        </p:spPr>
        <p:txBody>
          <a:bodyPr wrap="square" lIns="0" tIns="0" rIns="0" bIns="0" rtlCol="0" anchor="ctr"/>
          <a:lstStyle/>
          <a:p>
            <a:pPr algn="l" indent="0" marL="0">
              <a:buNone/>
            </a:pPr>
            <a:r>
              <a:rPr lang="en-US" sz="2600" b="1" dirty="0">
                <a:solidFill>
                  <a:srgbClr val="282C3F"/>
                </a:solidFill>
                <a:latin typeface="Arial" pitchFamily="34" charset="0"/>
                <a:ea typeface="Arial" pitchFamily="34" charset="-122"/>
                <a:cs typeface="Arial" pitchFamily="34" charset="-120"/>
              </a:rPr>
              <a:t>Key Insight 1 — Demand &amp; Pricing Trends</a:t>
            </a:r>
            <a:endParaRPr lang="en-US" sz="2600" dirty="0"/>
          </a:p>
        </p:txBody>
      </p:sp>
      <p:sp>
        <p:nvSpPr>
          <p:cNvPr id="5" name="Text 3"/>
          <p:cNvSpPr/>
          <p:nvPr/>
        </p:nvSpPr>
        <p:spPr>
          <a:xfrm>
            <a:off x="457200" y="1188720"/>
            <a:ext cx="7132320" cy="274320"/>
          </a:xfrm>
          <a:prstGeom prst="rect">
            <a:avLst/>
          </a:prstGeom>
          <a:noFill/>
          <a:ln/>
        </p:spPr>
        <p:txBody>
          <a:bodyPr wrap="square" lIns="0" tIns="0" rIns="0" bIns="0" rtlCol="0" anchor="ctr"/>
          <a:lstStyle/>
          <a:p>
            <a:pPr indent="0" marL="0">
              <a:buNone/>
            </a:pPr>
            <a:r>
              <a:rPr lang="en-US" sz="1200" b="1" spc="50" kern="0" dirty="0">
                <a:solidFill>
                  <a:srgbClr val="6B7280"/>
                </a:solidFill>
                <a:latin typeface="Arial" pitchFamily="34" charset="0"/>
                <a:ea typeface="Arial" pitchFamily="34" charset="-122"/>
                <a:cs typeface="Arial" pitchFamily="34" charset="-120"/>
              </a:rPr>
              <a:t>RESTAURANT LISTINGS BY CITY (DEMAND PROXY)</a:t>
            </a:r>
            <a:endParaRPr lang="en-US" sz="1200" dirty="0"/>
          </a:p>
        </p:txBody>
      </p:sp>
      <p:graphicFrame>
        <p:nvGraphicFramePr>
          <p:cNvPr id="6" name="Chart 0" descr=""/>
          <p:cNvGraphicFramePr/>
          <p:nvPr/>
        </p:nvGraphicFramePr>
        <p:xfrm>
          <a:off x="365760" y="1481328"/>
          <a:ext cx="7223760" cy="46177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7818120" y="1188720"/>
            <a:ext cx="3977640" cy="274320"/>
          </a:xfrm>
          <a:prstGeom prst="rect">
            <a:avLst/>
          </a:prstGeom>
          <a:noFill/>
          <a:ln/>
        </p:spPr>
        <p:txBody>
          <a:bodyPr wrap="square" lIns="0" tIns="0" rIns="0" bIns="0" rtlCol="0" anchor="ctr"/>
          <a:lstStyle/>
          <a:p>
            <a:pPr indent="0" marL="0">
              <a:buNone/>
            </a:pPr>
            <a:r>
              <a:rPr lang="en-US" sz="1200" b="1" spc="50" kern="0" dirty="0">
                <a:solidFill>
                  <a:srgbClr val="6B7280"/>
                </a:solidFill>
                <a:latin typeface="Arial" pitchFamily="34" charset="0"/>
                <a:ea typeface="Arial" pitchFamily="34" charset="-122"/>
                <a:cs typeface="Arial" pitchFamily="34" charset="-120"/>
              </a:rPr>
              <a:t>WHAT THE DATA SHOWS</a:t>
            </a:r>
            <a:endParaRPr lang="en-US" sz="1200" dirty="0"/>
          </a:p>
        </p:txBody>
      </p:sp>
      <p:sp>
        <p:nvSpPr>
          <p:cNvPr id="8" name="Shape 5"/>
          <p:cNvSpPr/>
          <p:nvPr/>
        </p:nvSpPr>
        <p:spPr>
          <a:xfrm>
            <a:off x="7818120" y="1481328"/>
            <a:ext cx="3977640" cy="1051560"/>
          </a:xfrm>
          <a:prstGeom prst="roundRect">
            <a:avLst>
              <a:gd name="adj" fmla="val 6957"/>
            </a:avLst>
          </a:prstGeom>
          <a:solidFill>
            <a:srgbClr val="F5F5F6"/>
          </a:solidFill>
          <a:ln/>
        </p:spPr>
      </p:sp>
      <p:sp>
        <p:nvSpPr>
          <p:cNvPr id="9" name="Text 6"/>
          <p:cNvSpPr/>
          <p:nvPr/>
        </p:nvSpPr>
        <p:spPr>
          <a:xfrm>
            <a:off x="8001000" y="1554480"/>
            <a:ext cx="3611880" cy="525780"/>
          </a:xfrm>
          <a:prstGeom prst="rect">
            <a:avLst/>
          </a:prstGeom>
          <a:noFill/>
          <a:ln/>
        </p:spPr>
        <p:txBody>
          <a:bodyPr wrap="square" lIns="0" tIns="0" rIns="0" bIns="0" rtlCol="0" anchor="b">
            <a:normAutofit/>
          </a:bodyPr>
          <a:lstStyle/>
          <a:p>
            <a:pPr algn="l" indent="0" marL="0">
              <a:buNone/>
            </a:pPr>
            <a:r>
              <a:rPr lang="en-US" sz="2600" b="1" dirty="0">
                <a:solidFill>
                  <a:srgbClr val="FC8019"/>
                </a:solidFill>
                <a:latin typeface="Arial" pitchFamily="34" charset="0"/>
                <a:ea typeface="Arial" pitchFamily="34" charset="-122"/>
                <a:cs typeface="Arial" pitchFamily="34" charset="-120"/>
              </a:rPr>
              <a:t>1,346</a:t>
            </a:r>
            <a:endParaRPr lang="en-US" sz="2600" dirty="0"/>
          </a:p>
        </p:txBody>
      </p:sp>
      <p:sp>
        <p:nvSpPr>
          <p:cNvPr id="10" name="Text 7"/>
          <p:cNvSpPr/>
          <p:nvPr/>
        </p:nvSpPr>
        <p:spPr>
          <a:xfrm>
            <a:off x="8001000" y="2091233"/>
            <a:ext cx="3611880" cy="420624"/>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Kolkata leads restaurant supply (15.5% of all listings) - Mumbai (1,277) and Chennai (1,106) follow</a:t>
            </a:r>
            <a:endParaRPr lang="en-US" sz="1100" dirty="0"/>
          </a:p>
        </p:txBody>
      </p:sp>
      <p:sp>
        <p:nvSpPr>
          <p:cNvPr id="11" name="Shape 8"/>
          <p:cNvSpPr/>
          <p:nvPr/>
        </p:nvSpPr>
        <p:spPr>
          <a:xfrm>
            <a:off x="7818120" y="2624328"/>
            <a:ext cx="3977640" cy="1051560"/>
          </a:xfrm>
          <a:prstGeom prst="roundRect">
            <a:avLst>
              <a:gd name="adj" fmla="val 6957"/>
            </a:avLst>
          </a:prstGeom>
          <a:solidFill>
            <a:srgbClr val="F5F5F6"/>
          </a:solidFill>
          <a:ln/>
        </p:spPr>
      </p:sp>
      <p:sp>
        <p:nvSpPr>
          <p:cNvPr id="12" name="Text 9"/>
          <p:cNvSpPr/>
          <p:nvPr/>
        </p:nvSpPr>
        <p:spPr>
          <a:xfrm>
            <a:off x="8001000" y="2697480"/>
            <a:ext cx="3611880" cy="525780"/>
          </a:xfrm>
          <a:prstGeom prst="rect">
            <a:avLst/>
          </a:prstGeom>
          <a:noFill/>
          <a:ln/>
        </p:spPr>
        <p:txBody>
          <a:bodyPr wrap="square" lIns="0" tIns="0" rIns="0" bIns="0" rtlCol="0" anchor="b">
            <a:normAutofit/>
          </a:bodyPr>
          <a:lstStyle/>
          <a:p>
            <a:pPr algn="l" indent="0" marL="0">
              <a:buNone/>
            </a:pPr>
            <a:r>
              <a:rPr lang="en-US" sz="1800" b="1" dirty="0">
                <a:solidFill>
                  <a:srgbClr val="282C3F"/>
                </a:solidFill>
                <a:latin typeface="Arial" pitchFamily="34" charset="0"/>
                <a:ea typeface="Arial" pitchFamily="34" charset="-122"/>
                <a:cs typeface="Arial" pitchFamily="34" charset="-120"/>
              </a:rPr>
              <a:t>Rs 394 vs Rs 270</a:t>
            </a:r>
            <a:endParaRPr lang="en-US" sz="1800" dirty="0"/>
          </a:p>
        </p:txBody>
      </p:sp>
      <p:sp>
        <p:nvSpPr>
          <p:cNvPr id="13" name="Text 10"/>
          <p:cNvSpPr/>
          <p:nvPr/>
        </p:nvSpPr>
        <p:spPr>
          <a:xfrm>
            <a:off x="8001000" y="3234233"/>
            <a:ext cx="3611880" cy="420624"/>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Mumbai's avg. menu price is the highest, 46% above Surat's, the lowest - a clear urban pricing premium</a:t>
            </a:r>
            <a:endParaRPr lang="en-US" sz="1100" dirty="0"/>
          </a:p>
        </p:txBody>
      </p:sp>
      <p:sp>
        <p:nvSpPr>
          <p:cNvPr id="14" name="Shape 11"/>
          <p:cNvSpPr/>
          <p:nvPr/>
        </p:nvSpPr>
        <p:spPr>
          <a:xfrm>
            <a:off x="7818120" y="3767328"/>
            <a:ext cx="3977640" cy="1051560"/>
          </a:xfrm>
          <a:prstGeom prst="roundRect">
            <a:avLst>
              <a:gd name="adj" fmla="val 6957"/>
            </a:avLst>
          </a:prstGeom>
          <a:solidFill>
            <a:srgbClr val="F5F5F6"/>
          </a:solidFill>
          <a:ln/>
        </p:spPr>
      </p:sp>
      <p:sp>
        <p:nvSpPr>
          <p:cNvPr id="15" name="Text 12"/>
          <p:cNvSpPr/>
          <p:nvPr/>
        </p:nvSpPr>
        <p:spPr>
          <a:xfrm>
            <a:off x="8001000" y="3840480"/>
            <a:ext cx="3611880" cy="525780"/>
          </a:xfrm>
          <a:prstGeom prst="rect">
            <a:avLst/>
          </a:prstGeom>
          <a:noFill/>
          <a:ln/>
        </p:spPr>
        <p:txBody>
          <a:bodyPr wrap="square" lIns="0" tIns="0" rIns="0" bIns="0" rtlCol="0" anchor="b">
            <a:normAutofit/>
          </a:bodyPr>
          <a:lstStyle/>
          <a:p>
            <a:pPr algn="l" indent="0" marL="0">
              <a:buNone/>
            </a:pPr>
            <a:r>
              <a:rPr lang="en-US" sz="2100" b="1" dirty="0">
                <a:solidFill>
                  <a:srgbClr val="60B246"/>
                </a:solidFill>
                <a:latin typeface="Arial" pitchFamily="34" charset="0"/>
                <a:ea typeface="Arial" pitchFamily="34" charset="-122"/>
                <a:cs typeface="Arial" pitchFamily="34" charset="-120"/>
              </a:rPr>
              <a:t>Chinese: #1</a:t>
            </a:r>
            <a:endParaRPr lang="en-US" sz="2100" dirty="0"/>
          </a:p>
        </p:txBody>
      </p:sp>
      <p:sp>
        <p:nvSpPr>
          <p:cNvPr id="16" name="Text 13"/>
          <p:cNvSpPr/>
          <p:nvPr/>
        </p:nvSpPr>
        <p:spPr>
          <a:xfrm>
            <a:off x="8001000" y="4377233"/>
            <a:ext cx="3611880" cy="420624"/>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Most-listed cuisine nationally with 2,588 restaurants, ahead of North Indian (1,921) and Indian (1,772)</a:t>
            </a:r>
            <a:endParaRPr lang="en-US" sz="1100" dirty="0"/>
          </a:p>
        </p:txBody>
      </p:sp>
      <p:sp>
        <p:nvSpPr>
          <p:cNvPr id="17" name="Shape 14"/>
          <p:cNvSpPr/>
          <p:nvPr/>
        </p:nvSpPr>
        <p:spPr>
          <a:xfrm>
            <a:off x="7818120" y="4910328"/>
            <a:ext cx="3977640" cy="1188720"/>
          </a:xfrm>
          <a:prstGeom prst="roundRect">
            <a:avLst>
              <a:gd name="adj" fmla="val 6154"/>
            </a:avLst>
          </a:prstGeom>
          <a:solidFill>
            <a:srgbClr val="282C3F"/>
          </a:solidFill>
          <a:ln/>
        </p:spPr>
      </p:sp>
      <p:sp>
        <p:nvSpPr>
          <p:cNvPr id="18" name="Text 15"/>
          <p:cNvSpPr/>
          <p:nvPr/>
        </p:nvSpPr>
        <p:spPr>
          <a:xfrm>
            <a:off x="8001000" y="5001768"/>
            <a:ext cx="3611880" cy="1005840"/>
          </a:xfrm>
          <a:prstGeom prst="rect">
            <a:avLst/>
          </a:prstGeom>
          <a:noFill/>
          <a:ln/>
        </p:spPr>
        <p:txBody>
          <a:bodyPr wrap="square" lIns="0" tIns="0" rIns="0" bIns="0" rtlCol="0" anchor="t"/>
          <a:lstStyle/>
          <a:p>
            <a:pPr indent="0" marL="0">
              <a:lnSpc>
                <a:spcPct val="115000"/>
              </a:lnSpc>
              <a:buNone/>
            </a:pPr>
            <a:r>
              <a:rPr lang="en-US" sz="2000" b="1" dirty="0">
                <a:solidFill>
                  <a:srgbClr val="FC8019"/>
                </a:solidFill>
                <a:latin typeface="Arial" pitchFamily="34" charset="0"/>
                <a:ea typeface="Arial" pitchFamily="34" charset="-122"/>
                <a:cs typeface="Arial" pitchFamily="34" charset="-120"/>
              </a:rPr>
              <a:t>r = 0.11</a:t>
            </a:r>
            <a:endParaRPr lang="en-US" sz="2000" dirty="0"/>
          </a:p>
          <a:p>
            <a:pPr indent="0" marL="0">
              <a:lnSpc>
                <a:spcPct val="115000"/>
              </a:lnSpc>
              <a:buNone/>
            </a:pPr>
            <a:r>
              <a:rPr lang="en-US" sz="1100" dirty="0">
                <a:solidFill>
                  <a:srgbClr val="E7E9F0"/>
                </a:solidFill>
                <a:latin typeface="Arial" pitchFamily="34" charset="0"/>
                <a:ea typeface="Arial" pitchFamily="34" charset="-122"/>
                <a:cs typeface="Arial" pitchFamily="34" charset="-120"/>
              </a:rPr>
              <a:t>Weak correlation between price and rating - charging more does not reliably buy a better rating.</a:t>
            </a:r>
            <a:endParaRPr lang="en-US" sz="2000" dirty="0"/>
          </a:p>
        </p:txBody>
      </p:sp>
      <p:sp>
        <p:nvSpPr>
          <p:cNvPr id="19" name="Text 16"/>
          <p:cNvSpPr/>
          <p:nvPr/>
        </p:nvSpPr>
        <p:spPr>
          <a:xfrm>
            <a:off x="457200" y="6547104"/>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Swiggy Operations &amp; Performance Analysis</a:t>
            </a:r>
            <a:endParaRPr lang="en-US" sz="900" dirty="0"/>
          </a:p>
        </p:txBody>
      </p:sp>
      <p:sp>
        <p:nvSpPr>
          <p:cNvPr id="20" name="Text 17"/>
          <p:cNvSpPr/>
          <p:nvPr/>
        </p:nvSpPr>
        <p:spPr>
          <a:xfrm>
            <a:off x="11521440" y="6547104"/>
            <a:ext cx="274320" cy="256032"/>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502920" cy="502920"/>
          </a:xfrm>
          <a:prstGeom prst="ellipse">
            <a:avLst/>
          </a:prstGeom>
          <a:solidFill>
            <a:srgbClr val="FC8019"/>
          </a:solidFill>
          <a:ln/>
        </p:spPr>
      </p:sp>
      <p:sp>
        <p:nvSpPr>
          <p:cNvPr id="3" name="Text 1"/>
          <p:cNvSpPr/>
          <p:nvPr/>
        </p:nvSpPr>
        <p:spPr>
          <a:xfrm>
            <a:off x="457200" y="365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04</a:t>
            </a:r>
            <a:endParaRPr lang="en-US" sz="1800" dirty="0"/>
          </a:p>
        </p:txBody>
      </p:sp>
      <p:sp>
        <p:nvSpPr>
          <p:cNvPr id="4" name="Text 2"/>
          <p:cNvSpPr/>
          <p:nvPr/>
        </p:nvSpPr>
        <p:spPr>
          <a:xfrm>
            <a:off x="1097280" y="320040"/>
            <a:ext cx="10607040" cy="594360"/>
          </a:xfrm>
          <a:prstGeom prst="rect">
            <a:avLst/>
          </a:prstGeom>
          <a:noFill/>
          <a:ln/>
        </p:spPr>
        <p:txBody>
          <a:bodyPr wrap="square" lIns="0" tIns="0" rIns="0" bIns="0" rtlCol="0" anchor="ctr"/>
          <a:lstStyle/>
          <a:p>
            <a:pPr algn="l" indent="0" marL="0">
              <a:buNone/>
            </a:pPr>
            <a:r>
              <a:rPr lang="en-US" sz="2600" b="1" dirty="0">
                <a:solidFill>
                  <a:srgbClr val="282C3F"/>
                </a:solidFill>
                <a:latin typeface="Arial" pitchFamily="34" charset="0"/>
                <a:ea typeface="Arial" pitchFamily="34" charset="-122"/>
                <a:cs typeface="Arial" pitchFamily="34" charset="-120"/>
              </a:rPr>
              <a:t>Key Insight 2 — Operational Bottlenecks (Delivery Delays)</a:t>
            </a:r>
            <a:endParaRPr lang="en-US" sz="2600" dirty="0"/>
          </a:p>
        </p:txBody>
      </p:sp>
      <p:sp>
        <p:nvSpPr>
          <p:cNvPr id="5" name="Text 3"/>
          <p:cNvSpPr/>
          <p:nvPr/>
        </p:nvSpPr>
        <p:spPr>
          <a:xfrm>
            <a:off x="457200" y="1188720"/>
            <a:ext cx="7132320" cy="274320"/>
          </a:xfrm>
          <a:prstGeom prst="rect">
            <a:avLst/>
          </a:prstGeom>
          <a:noFill/>
          <a:ln/>
        </p:spPr>
        <p:txBody>
          <a:bodyPr wrap="square" lIns="0" tIns="0" rIns="0" bIns="0" rtlCol="0" anchor="ctr"/>
          <a:lstStyle/>
          <a:p>
            <a:pPr indent="0" marL="0">
              <a:buNone/>
            </a:pPr>
            <a:r>
              <a:rPr lang="en-US" sz="1200" b="1" spc="50" kern="0" dirty="0">
                <a:solidFill>
                  <a:srgbClr val="6B7280"/>
                </a:solidFill>
                <a:latin typeface="Arial" pitchFamily="34" charset="0"/>
                <a:ea typeface="Arial" pitchFamily="34" charset="-122"/>
                <a:cs typeface="Arial" pitchFamily="34" charset="-120"/>
              </a:rPr>
              <a:t>AVG. DELIVERY TIME BY CITY (MINUTES)</a:t>
            </a:r>
            <a:endParaRPr lang="en-US" sz="1200" dirty="0"/>
          </a:p>
        </p:txBody>
      </p:sp>
      <p:graphicFrame>
        <p:nvGraphicFramePr>
          <p:cNvPr id="6" name="Chart 0" descr=""/>
          <p:cNvGraphicFramePr/>
          <p:nvPr/>
        </p:nvGraphicFramePr>
        <p:xfrm>
          <a:off x="365760" y="1481328"/>
          <a:ext cx="7223760" cy="46177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7818120" y="1188720"/>
            <a:ext cx="3977640" cy="274320"/>
          </a:xfrm>
          <a:prstGeom prst="rect">
            <a:avLst/>
          </a:prstGeom>
          <a:noFill/>
          <a:ln/>
        </p:spPr>
        <p:txBody>
          <a:bodyPr wrap="square" lIns="0" tIns="0" rIns="0" bIns="0" rtlCol="0" anchor="ctr"/>
          <a:lstStyle/>
          <a:p>
            <a:pPr indent="0" marL="0">
              <a:buNone/>
            </a:pPr>
            <a:r>
              <a:rPr lang="en-US" sz="1200" b="1" spc="50" kern="0" dirty="0">
                <a:solidFill>
                  <a:srgbClr val="6B7280"/>
                </a:solidFill>
                <a:latin typeface="Arial" pitchFamily="34" charset="0"/>
                <a:ea typeface="Arial" pitchFamily="34" charset="-122"/>
                <a:cs typeface="Arial" pitchFamily="34" charset="-120"/>
              </a:rPr>
              <a:t>WHERE DELIVERY BREAKS DOWN</a:t>
            </a:r>
            <a:endParaRPr lang="en-US" sz="1200" dirty="0"/>
          </a:p>
        </p:txBody>
      </p:sp>
      <p:sp>
        <p:nvSpPr>
          <p:cNvPr id="8" name="Shape 5"/>
          <p:cNvSpPr/>
          <p:nvPr/>
        </p:nvSpPr>
        <p:spPr>
          <a:xfrm>
            <a:off x="7818120" y="1481328"/>
            <a:ext cx="3977640" cy="1051560"/>
          </a:xfrm>
          <a:prstGeom prst="roundRect">
            <a:avLst>
              <a:gd name="adj" fmla="val 6957"/>
            </a:avLst>
          </a:prstGeom>
          <a:solidFill>
            <a:srgbClr val="F5F5F6"/>
          </a:solidFill>
          <a:ln/>
        </p:spPr>
      </p:sp>
      <p:sp>
        <p:nvSpPr>
          <p:cNvPr id="9" name="Text 6"/>
          <p:cNvSpPr/>
          <p:nvPr/>
        </p:nvSpPr>
        <p:spPr>
          <a:xfrm>
            <a:off x="8001000" y="1554480"/>
            <a:ext cx="3611880" cy="525780"/>
          </a:xfrm>
          <a:prstGeom prst="rect">
            <a:avLst/>
          </a:prstGeom>
          <a:noFill/>
          <a:ln/>
        </p:spPr>
        <p:txBody>
          <a:bodyPr wrap="square" lIns="0" tIns="0" rIns="0" bIns="0" rtlCol="0" anchor="b">
            <a:normAutofit/>
          </a:bodyPr>
          <a:lstStyle/>
          <a:p>
            <a:pPr algn="l" indent="0" marL="0">
              <a:buNone/>
            </a:pPr>
            <a:r>
              <a:rPr lang="en-US" sz="2100" b="1" dirty="0">
                <a:solidFill>
                  <a:srgbClr val="D64550"/>
                </a:solidFill>
                <a:latin typeface="Arial" pitchFamily="34" charset="0"/>
                <a:ea typeface="Arial" pitchFamily="34" charset="-122"/>
                <a:cs typeface="Arial" pitchFamily="34" charset="-120"/>
              </a:rPr>
              <a:t>23 min gap</a:t>
            </a:r>
            <a:endParaRPr lang="en-US" sz="2100" dirty="0"/>
          </a:p>
        </p:txBody>
      </p:sp>
      <p:sp>
        <p:nvSpPr>
          <p:cNvPr id="10" name="Text 7"/>
          <p:cNvSpPr/>
          <p:nvPr/>
        </p:nvSpPr>
        <p:spPr>
          <a:xfrm>
            <a:off x="8001000" y="2091233"/>
            <a:ext cx="3611880" cy="420624"/>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Kolkata (67.8 min avg) is the slowest city; Ahmedabad (44.7 min avg) is the fastest</a:t>
            </a:r>
            <a:endParaRPr lang="en-US" sz="1100" dirty="0"/>
          </a:p>
        </p:txBody>
      </p:sp>
      <p:sp>
        <p:nvSpPr>
          <p:cNvPr id="11" name="Shape 8"/>
          <p:cNvSpPr/>
          <p:nvPr/>
        </p:nvSpPr>
        <p:spPr>
          <a:xfrm>
            <a:off x="7818120" y="2624328"/>
            <a:ext cx="3977640" cy="1051560"/>
          </a:xfrm>
          <a:prstGeom prst="roundRect">
            <a:avLst>
              <a:gd name="adj" fmla="val 6957"/>
            </a:avLst>
          </a:prstGeom>
          <a:solidFill>
            <a:srgbClr val="F5F5F6"/>
          </a:solidFill>
          <a:ln/>
        </p:spPr>
      </p:sp>
      <p:sp>
        <p:nvSpPr>
          <p:cNvPr id="12" name="Text 9"/>
          <p:cNvSpPr/>
          <p:nvPr/>
        </p:nvSpPr>
        <p:spPr>
          <a:xfrm>
            <a:off x="8001000" y="2697480"/>
            <a:ext cx="3611880" cy="525780"/>
          </a:xfrm>
          <a:prstGeom prst="rect">
            <a:avLst/>
          </a:prstGeom>
          <a:noFill/>
          <a:ln/>
        </p:spPr>
        <p:txBody>
          <a:bodyPr wrap="square" lIns="0" tIns="0" rIns="0" bIns="0" rtlCol="0" anchor="b">
            <a:normAutofit/>
          </a:bodyPr>
          <a:lstStyle/>
          <a:p>
            <a:pPr algn="l" indent="0" marL="0">
              <a:buNone/>
            </a:pPr>
            <a:r>
              <a:rPr lang="en-US" sz="2600" b="1" dirty="0">
                <a:solidFill>
                  <a:srgbClr val="D64550"/>
                </a:solidFill>
                <a:latin typeface="Arial" pitchFamily="34" charset="0"/>
                <a:ea typeface="Arial" pitchFamily="34" charset="-122"/>
                <a:cs typeface="Arial" pitchFamily="34" charset="-120"/>
              </a:rPr>
              <a:t>30.9%</a:t>
            </a:r>
            <a:endParaRPr lang="en-US" sz="2600" dirty="0"/>
          </a:p>
        </p:txBody>
      </p:sp>
      <p:sp>
        <p:nvSpPr>
          <p:cNvPr id="13" name="Text 10"/>
          <p:cNvSpPr/>
          <p:nvPr/>
        </p:nvSpPr>
        <p:spPr>
          <a:xfrm>
            <a:off x="8001000" y="3234233"/>
            <a:ext cx="3611880" cy="420624"/>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Of all 8,680 restaurants have a delivery time above 60 minutes - the SLA breach zone</a:t>
            </a:r>
            <a:endParaRPr lang="en-US" sz="1100" dirty="0"/>
          </a:p>
        </p:txBody>
      </p:sp>
      <p:sp>
        <p:nvSpPr>
          <p:cNvPr id="14" name="Shape 11"/>
          <p:cNvSpPr/>
          <p:nvPr/>
        </p:nvSpPr>
        <p:spPr>
          <a:xfrm>
            <a:off x="7818120" y="3767328"/>
            <a:ext cx="3977640" cy="1051560"/>
          </a:xfrm>
          <a:prstGeom prst="roundRect">
            <a:avLst>
              <a:gd name="adj" fmla="val 6957"/>
            </a:avLst>
          </a:prstGeom>
          <a:solidFill>
            <a:srgbClr val="F5F5F6"/>
          </a:solidFill>
          <a:ln/>
        </p:spPr>
      </p:sp>
      <p:sp>
        <p:nvSpPr>
          <p:cNvPr id="15" name="Text 12"/>
          <p:cNvSpPr/>
          <p:nvPr/>
        </p:nvSpPr>
        <p:spPr>
          <a:xfrm>
            <a:off x="8001000" y="3840480"/>
            <a:ext cx="3611880" cy="525780"/>
          </a:xfrm>
          <a:prstGeom prst="rect">
            <a:avLst/>
          </a:prstGeom>
          <a:noFill/>
          <a:ln/>
        </p:spPr>
        <p:txBody>
          <a:bodyPr wrap="square" lIns="0" tIns="0" rIns="0" bIns="0" rtlCol="0" anchor="b">
            <a:normAutofit/>
          </a:bodyPr>
          <a:lstStyle/>
          <a:p>
            <a:pPr algn="l" indent="0" marL="0">
              <a:buNone/>
            </a:pPr>
            <a:r>
              <a:rPr lang="en-US" sz="1800" b="1" dirty="0">
                <a:solidFill>
                  <a:srgbClr val="E06F10"/>
                </a:solidFill>
                <a:latin typeface="Arial" pitchFamily="34" charset="0"/>
                <a:ea typeface="Arial" pitchFamily="34" charset="-122"/>
                <a:cs typeface="Arial" pitchFamily="34" charset="-120"/>
              </a:rPr>
              <a:t>Jadavpur: 84.6 min</a:t>
            </a:r>
            <a:endParaRPr lang="en-US" sz="1800" dirty="0"/>
          </a:p>
        </p:txBody>
      </p:sp>
      <p:sp>
        <p:nvSpPr>
          <p:cNvPr id="16" name="Text 13"/>
          <p:cNvSpPr/>
          <p:nvPr/>
        </p:nvSpPr>
        <p:spPr>
          <a:xfrm>
            <a:off x="8001000" y="4377233"/>
            <a:ext cx="3611880" cy="420624"/>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Slowest micro-market nationally, followed by Alipore (81.1) and Dumdum (79.8) - all in Kolkata</a:t>
            </a:r>
            <a:endParaRPr lang="en-US" sz="1100" dirty="0"/>
          </a:p>
        </p:txBody>
      </p:sp>
      <p:sp>
        <p:nvSpPr>
          <p:cNvPr id="17" name="Shape 14"/>
          <p:cNvSpPr/>
          <p:nvPr/>
        </p:nvSpPr>
        <p:spPr>
          <a:xfrm>
            <a:off x="7818120" y="4910328"/>
            <a:ext cx="3977640" cy="1188720"/>
          </a:xfrm>
          <a:prstGeom prst="roundRect">
            <a:avLst>
              <a:gd name="adj" fmla="val 6154"/>
            </a:avLst>
          </a:prstGeom>
          <a:solidFill>
            <a:srgbClr val="282C3F"/>
          </a:solidFill>
          <a:ln/>
        </p:spPr>
      </p:sp>
      <p:sp>
        <p:nvSpPr>
          <p:cNvPr id="18" name="Text 15"/>
          <p:cNvSpPr/>
          <p:nvPr/>
        </p:nvSpPr>
        <p:spPr>
          <a:xfrm>
            <a:off x="8001000" y="5001768"/>
            <a:ext cx="3611880" cy="1005840"/>
          </a:xfrm>
          <a:prstGeom prst="rect">
            <a:avLst/>
          </a:prstGeom>
          <a:noFill/>
          <a:ln/>
        </p:spPr>
        <p:txBody>
          <a:bodyPr wrap="square" lIns="0" tIns="0" rIns="0" bIns="0" rtlCol="0" anchor="t"/>
          <a:lstStyle/>
          <a:p>
            <a:pPr indent="0" marL="0">
              <a:lnSpc>
                <a:spcPct val="115000"/>
              </a:lnSpc>
              <a:buNone/>
            </a:pPr>
            <a:r>
              <a:rPr lang="en-US" sz="2000" b="1" dirty="0">
                <a:solidFill>
                  <a:srgbClr val="FC8019"/>
                </a:solidFill>
                <a:latin typeface="Arial" pitchFamily="34" charset="0"/>
                <a:ea typeface="Arial" pitchFamily="34" charset="-122"/>
                <a:cs typeface="Arial" pitchFamily="34" charset="-120"/>
              </a:rPr>
              <a:t>r = -0.15</a:t>
            </a:r>
            <a:endParaRPr lang="en-US" sz="2000" dirty="0"/>
          </a:p>
          <a:p>
            <a:pPr indent="0" marL="0">
              <a:lnSpc>
                <a:spcPct val="115000"/>
              </a:lnSpc>
              <a:buNone/>
            </a:pPr>
            <a:r>
              <a:rPr lang="en-US" sz="1050" dirty="0">
                <a:solidFill>
                  <a:srgbClr val="E7E9F0"/>
                </a:solidFill>
                <a:latin typeface="Arial" pitchFamily="34" charset="0"/>
                <a:ea typeface="Arial" pitchFamily="34" charset="-122"/>
                <a:cs typeface="Arial" pitchFamily="34" charset="-120"/>
              </a:rPr>
              <a:t>Slower delivery mildly erodes rating. Note: no cancellation field exists in this dataset - SLA breach is used as the bottleneck proxy.</a:t>
            </a:r>
            <a:endParaRPr lang="en-US" sz="2000" dirty="0"/>
          </a:p>
        </p:txBody>
      </p:sp>
      <p:sp>
        <p:nvSpPr>
          <p:cNvPr id="19" name="Text 16"/>
          <p:cNvSpPr/>
          <p:nvPr/>
        </p:nvSpPr>
        <p:spPr>
          <a:xfrm>
            <a:off x="457200" y="6547104"/>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Swiggy Operations &amp; Performance Analysis</a:t>
            </a:r>
            <a:endParaRPr lang="en-US" sz="900" dirty="0"/>
          </a:p>
        </p:txBody>
      </p:sp>
      <p:sp>
        <p:nvSpPr>
          <p:cNvPr id="20" name="Text 17"/>
          <p:cNvSpPr/>
          <p:nvPr/>
        </p:nvSpPr>
        <p:spPr>
          <a:xfrm>
            <a:off x="11521440" y="6547104"/>
            <a:ext cx="274320" cy="256032"/>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502920" cy="502920"/>
          </a:xfrm>
          <a:prstGeom prst="ellipse">
            <a:avLst/>
          </a:prstGeom>
          <a:solidFill>
            <a:srgbClr val="FC8019"/>
          </a:solidFill>
          <a:ln/>
        </p:spPr>
      </p:sp>
      <p:sp>
        <p:nvSpPr>
          <p:cNvPr id="3" name="Text 1"/>
          <p:cNvSpPr/>
          <p:nvPr/>
        </p:nvSpPr>
        <p:spPr>
          <a:xfrm>
            <a:off x="457200" y="365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05</a:t>
            </a:r>
            <a:endParaRPr lang="en-US" sz="1800" dirty="0"/>
          </a:p>
        </p:txBody>
      </p:sp>
      <p:sp>
        <p:nvSpPr>
          <p:cNvPr id="4" name="Text 2"/>
          <p:cNvSpPr/>
          <p:nvPr/>
        </p:nvSpPr>
        <p:spPr>
          <a:xfrm>
            <a:off x="1097280" y="320040"/>
            <a:ext cx="10607040" cy="594360"/>
          </a:xfrm>
          <a:prstGeom prst="rect">
            <a:avLst/>
          </a:prstGeom>
          <a:noFill/>
          <a:ln/>
        </p:spPr>
        <p:txBody>
          <a:bodyPr wrap="square" lIns="0" tIns="0" rIns="0" bIns="0" rtlCol="0" anchor="ctr"/>
          <a:lstStyle/>
          <a:p>
            <a:pPr algn="l" indent="0" marL="0">
              <a:buNone/>
            </a:pPr>
            <a:r>
              <a:rPr lang="en-US" sz="2600" b="1" dirty="0">
                <a:solidFill>
                  <a:srgbClr val="282C3F"/>
                </a:solidFill>
                <a:latin typeface="Arial" pitchFamily="34" charset="0"/>
                <a:ea typeface="Arial" pitchFamily="34" charset="-122"/>
                <a:cs typeface="Arial" pitchFamily="34" charset="-120"/>
              </a:rPr>
              <a:t>Geographical Performance — Top Locations</a:t>
            </a:r>
            <a:endParaRPr lang="en-US" sz="2600" dirty="0"/>
          </a:p>
        </p:txBody>
      </p:sp>
      <p:sp>
        <p:nvSpPr>
          <p:cNvPr id="5" name="Text 3"/>
          <p:cNvSpPr/>
          <p:nvPr/>
        </p:nvSpPr>
        <p:spPr>
          <a:xfrm>
            <a:off x="457200" y="1188720"/>
            <a:ext cx="7132320" cy="274320"/>
          </a:xfrm>
          <a:prstGeom prst="rect">
            <a:avLst/>
          </a:prstGeom>
          <a:noFill/>
          <a:ln/>
        </p:spPr>
        <p:txBody>
          <a:bodyPr wrap="square" lIns="0" tIns="0" rIns="0" bIns="0" rtlCol="0" anchor="ctr"/>
          <a:lstStyle/>
          <a:p>
            <a:pPr indent="0" marL="0">
              <a:buNone/>
            </a:pPr>
            <a:r>
              <a:rPr lang="en-US" sz="1200" b="1" spc="50" kern="0" dirty="0">
                <a:solidFill>
                  <a:srgbClr val="6B7280"/>
                </a:solidFill>
                <a:latin typeface="Arial" pitchFamily="34" charset="0"/>
                <a:ea typeface="Arial" pitchFamily="34" charset="-122"/>
                <a:cs typeface="Arial" pitchFamily="34" charset="-120"/>
              </a:rPr>
              <a:t>TOP 10 AREAS BY RESTAURANT DENSITY</a:t>
            </a:r>
            <a:endParaRPr lang="en-US" sz="1200" dirty="0"/>
          </a:p>
        </p:txBody>
      </p:sp>
      <p:graphicFrame>
        <p:nvGraphicFramePr>
          <p:cNvPr id="6" name="Chart 0" descr=""/>
          <p:cNvGraphicFramePr/>
          <p:nvPr/>
        </p:nvGraphicFramePr>
        <p:xfrm>
          <a:off x="365760" y="1481328"/>
          <a:ext cx="7223760" cy="46177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7818120" y="1188720"/>
            <a:ext cx="3977640" cy="274320"/>
          </a:xfrm>
          <a:prstGeom prst="rect">
            <a:avLst/>
          </a:prstGeom>
          <a:noFill/>
          <a:ln/>
        </p:spPr>
        <p:txBody>
          <a:bodyPr wrap="square" lIns="0" tIns="0" rIns="0" bIns="0" rtlCol="0" anchor="ctr"/>
          <a:lstStyle/>
          <a:p>
            <a:pPr indent="0" marL="0">
              <a:buNone/>
            </a:pPr>
            <a:r>
              <a:rPr lang="en-US" sz="1200" b="1" spc="50" kern="0" dirty="0">
                <a:solidFill>
                  <a:srgbClr val="6B7280"/>
                </a:solidFill>
                <a:latin typeface="Arial" pitchFamily="34" charset="0"/>
                <a:ea typeface="Arial" pitchFamily="34" charset="-122"/>
                <a:cs typeface="Arial" pitchFamily="34" charset="-120"/>
              </a:rPr>
              <a:t>STANDOUT PERFORMERS</a:t>
            </a:r>
            <a:endParaRPr lang="en-US" sz="1200" dirty="0"/>
          </a:p>
        </p:txBody>
      </p:sp>
      <p:sp>
        <p:nvSpPr>
          <p:cNvPr id="8" name="Shape 5"/>
          <p:cNvSpPr/>
          <p:nvPr/>
        </p:nvSpPr>
        <p:spPr>
          <a:xfrm>
            <a:off x="7818120" y="1481328"/>
            <a:ext cx="3977640" cy="1051560"/>
          </a:xfrm>
          <a:prstGeom prst="roundRect">
            <a:avLst>
              <a:gd name="adj" fmla="val 6957"/>
            </a:avLst>
          </a:prstGeom>
          <a:solidFill>
            <a:srgbClr val="F5F5F6"/>
          </a:solidFill>
          <a:ln/>
        </p:spPr>
      </p:sp>
      <p:sp>
        <p:nvSpPr>
          <p:cNvPr id="9" name="Text 6"/>
          <p:cNvSpPr/>
          <p:nvPr/>
        </p:nvSpPr>
        <p:spPr>
          <a:xfrm>
            <a:off x="8001000" y="1554480"/>
            <a:ext cx="3611880" cy="525780"/>
          </a:xfrm>
          <a:prstGeom prst="rect">
            <a:avLst/>
          </a:prstGeom>
          <a:noFill/>
          <a:ln/>
        </p:spPr>
        <p:txBody>
          <a:bodyPr wrap="square" lIns="0" tIns="0" rIns="0" bIns="0" rtlCol="0" anchor="b">
            <a:normAutofit/>
          </a:bodyPr>
          <a:lstStyle/>
          <a:p>
            <a:pPr algn="l" indent="0" marL="0">
              <a:buNone/>
            </a:pPr>
            <a:r>
              <a:rPr lang="en-US" sz="1800" b="1" dirty="0">
                <a:solidFill>
                  <a:srgbClr val="60B246"/>
                </a:solidFill>
                <a:latin typeface="Arial" pitchFamily="34" charset="0"/>
                <a:ea typeface="Arial" pitchFamily="34" charset="-122"/>
                <a:cs typeface="Arial" pitchFamily="34" charset="-120"/>
              </a:rPr>
              <a:t>Chennai: 3.78 *</a:t>
            </a:r>
            <a:endParaRPr lang="en-US" sz="1800" dirty="0"/>
          </a:p>
        </p:txBody>
      </p:sp>
      <p:sp>
        <p:nvSpPr>
          <p:cNvPr id="10" name="Text 7"/>
          <p:cNvSpPr/>
          <p:nvPr/>
        </p:nvSpPr>
        <p:spPr>
          <a:xfrm>
            <a:off x="8001000" y="2091233"/>
            <a:ext cx="3611880" cy="420624"/>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Highest average city rating, just ahead of Bangalore (3.76) - Delhi is lowest at 3.53</a:t>
            </a:r>
            <a:endParaRPr lang="en-US" sz="1100" dirty="0"/>
          </a:p>
        </p:txBody>
      </p:sp>
      <p:sp>
        <p:nvSpPr>
          <p:cNvPr id="11" name="Shape 8"/>
          <p:cNvSpPr/>
          <p:nvPr/>
        </p:nvSpPr>
        <p:spPr>
          <a:xfrm>
            <a:off x="7818120" y="2624328"/>
            <a:ext cx="3977640" cy="1051560"/>
          </a:xfrm>
          <a:prstGeom prst="roundRect">
            <a:avLst>
              <a:gd name="adj" fmla="val 6957"/>
            </a:avLst>
          </a:prstGeom>
          <a:solidFill>
            <a:srgbClr val="F5F5F6"/>
          </a:solidFill>
          <a:ln/>
        </p:spPr>
      </p:sp>
      <p:sp>
        <p:nvSpPr>
          <p:cNvPr id="12" name="Text 9"/>
          <p:cNvSpPr/>
          <p:nvPr/>
        </p:nvSpPr>
        <p:spPr>
          <a:xfrm>
            <a:off x="8001000" y="2697480"/>
            <a:ext cx="3611880" cy="525780"/>
          </a:xfrm>
          <a:prstGeom prst="rect">
            <a:avLst/>
          </a:prstGeom>
          <a:noFill/>
          <a:ln/>
        </p:spPr>
        <p:txBody>
          <a:bodyPr wrap="square" lIns="0" tIns="0" rIns="0" bIns="0" rtlCol="0" anchor="b">
            <a:normAutofit/>
          </a:bodyPr>
          <a:lstStyle/>
          <a:p>
            <a:pPr algn="l" indent="0" marL="0">
              <a:buNone/>
            </a:pPr>
            <a:r>
              <a:rPr lang="en-US" sz="2100" b="1" dirty="0">
                <a:solidFill>
                  <a:srgbClr val="FC8019"/>
                </a:solidFill>
                <a:latin typeface="Arial" pitchFamily="34" charset="0"/>
                <a:ea typeface="Arial" pitchFamily="34" charset="-122"/>
                <a:cs typeface="Arial" pitchFamily="34" charset="-120"/>
              </a:rPr>
              <a:t>Rohini: 257</a:t>
            </a:r>
            <a:endParaRPr lang="en-US" sz="2100" dirty="0"/>
          </a:p>
        </p:txBody>
      </p:sp>
      <p:sp>
        <p:nvSpPr>
          <p:cNvPr id="13" name="Text 10"/>
          <p:cNvSpPr/>
          <p:nvPr/>
        </p:nvSpPr>
        <p:spPr>
          <a:xfrm>
            <a:off x="8001000" y="3234233"/>
            <a:ext cx="3611880" cy="420624"/>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Top hyperlocal hub nationally by restaurant count, ahead of Chembur (208) and Kothrud (149)</a:t>
            </a:r>
            <a:endParaRPr lang="en-US" sz="1100" dirty="0"/>
          </a:p>
        </p:txBody>
      </p:sp>
      <p:sp>
        <p:nvSpPr>
          <p:cNvPr id="14" name="Shape 11"/>
          <p:cNvSpPr/>
          <p:nvPr/>
        </p:nvSpPr>
        <p:spPr>
          <a:xfrm>
            <a:off x="7818120" y="3767328"/>
            <a:ext cx="3977640" cy="1051560"/>
          </a:xfrm>
          <a:prstGeom prst="roundRect">
            <a:avLst>
              <a:gd name="adj" fmla="val 6957"/>
            </a:avLst>
          </a:prstGeom>
          <a:solidFill>
            <a:srgbClr val="F5F5F6"/>
          </a:solidFill>
          <a:ln/>
        </p:spPr>
      </p:sp>
      <p:sp>
        <p:nvSpPr>
          <p:cNvPr id="15" name="Text 12"/>
          <p:cNvSpPr/>
          <p:nvPr/>
        </p:nvSpPr>
        <p:spPr>
          <a:xfrm>
            <a:off x="8001000" y="3840480"/>
            <a:ext cx="3611880" cy="525780"/>
          </a:xfrm>
          <a:prstGeom prst="rect">
            <a:avLst/>
          </a:prstGeom>
          <a:noFill/>
          <a:ln/>
        </p:spPr>
        <p:txBody>
          <a:bodyPr wrap="square" lIns="0" tIns="0" rIns="0" bIns="0" rtlCol="0" anchor="b">
            <a:normAutofit/>
          </a:bodyPr>
          <a:lstStyle/>
          <a:p>
            <a:pPr algn="l" indent="0" marL="0">
              <a:buNone/>
            </a:pPr>
            <a:r>
              <a:rPr lang="en-US" sz="1800" b="1" dirty="0">
                <a:solidFill>
                  <a:srgbClr val="282C3F"/>
                </a:solidFill>
                <a:latin typeface="Arial" pitchFamily="34" charset="0"/>
                <a:ea typeface="Arial" pitchFamily="34" charset="-122"/>
                <a:cs typeface="Arial" pitchFamily="34" charset="-120"/>
              </a:rPr>
              <a:t>4.8 * / 500 ratings</a:t>
            </a:r>
            <a:endParaRPr lang="en-US" sz="1800" dirty="0"/>
          </a:p>
        </p:txBody>
      </p:sp>
      <p:sp>
        <p:nvSpPr>
          <p:cNvPr id="16" name="Text 13"/>
          <p:cNvSpPr/>
          <p:nvPr/>
        </p:nvSpPr>
        <p:spPr>
          <a:xfrm>
            <a:off x="8001000" y="4377233"/>
            <a:ext cx="3611880" cy="420624"/>
          </a:xfrm>
          <a:prstGeom prst="rect">
            <a:avLst/>
          </a:prstGeom>
          <a:noFill/>
          <a:ln/>
        </p:spPr>
        <p:txBody>
          <a:bodyPr wrap="square" lIns="0" tIns="0" rIns="0" bIns="0" rtlCol="0" anchor="t"/>
          <a:lstStyle/>
          <a:p>
            <a:pPr algn="l" indent="0" marL="0">
              <a:buNone/>
            </a:pPr>
            <a:r>
              <a:rPr lang="en-US" sz="1100" dirty="0">
                <a:solidFill>
                  <a:srgbClr val="6B7280"/>
                </a:solidFill>
                <a:latin typeface="Arial" pitchFamily="34" charset="0"/>
                <a:ea typeface="Arial" pitchFamily="34" charset="-122"/>
                <a:cs typeface="Arial" pitchFamily="34" charset="-120"/>
              </a:rPr>
              <a:t>Nic Natural Ice Creams (Kolkata) is the platform's top-rated high-volume restaurant</a:t>
            </a:r>
            <a:endParaRPr lang="en-US" sz="1100" dirty="0"/>
          </a:p>
        </p:txBody>
      </p:sp>
      <p:sp>
        <p:nvSpPr>
          <p:cNvPr id="17" name="Shape 14"/>
          <p:cNvSpPr/>
          <p:nvPr/>
        </p:nvSpPr>
        <p:spPr>
          <a:xfrm>
            <a:off x="7818120" y="4910328"/>
            <a:ext cx="3977640" cy="1188720"/>
          </a:xfrm>
          <a:prstGeom prst="roundRect">
            <a:avLst>
              <a:gd name="adj" fmla="val 6154"/>
            </a:avLst>
          </a:prstGeom>
          <a:solidFill>
            <a:srgbClr val="282C3F"/>
          </a:solidFill>
          <a:ln/>
        </p:spPr>
      </p:sp>
      <p:sp>
        <p:nvSpPr>
          <p:cNvPr id="18" name="Text 15"/>
          <p:cNvSpPr/>
          <p:nvPr/>
        </p:nvSpPr>
        <p:spPr>
          <a:xfrm>
            <a:off x="8001000" y="5001768"/>
            <a:ext cx="3611880" cy="1005840"/>
          </a:xfrm>
          <a:prstGeom prst="rect">
            <a:avLst/>
          </a:prstGeom>
          <a:noFill/>
          <a:ln/>
        </p:spPr>
        <p:txBody>
          <a:bodyPr wrap="square" lIns="0" tIns="0" rIns="0" bIns="0" rtlCol="0" anchor="t"/>
          <a:lstStyle/>
          <a:p>
            <a:pPr indent="0" marL="0">
              <a:lnSpc>
                <a:spcPct val="115000"/>
              </a:lnSpc>
              <a:buNone/>
            </a:pPr>
            <a:r>
              <a:rPr lang="en-US" sz="2000" b="1" dirty="0">
                <a:solidFill>
                  <a:srgbClr val="FC8019"/>
                </a:solidFill>
                <a:latin typeface="Arial" pitchFamily="34" charset="0"/>
                <a:ea typeface="Arial" pitchFamily="34" charset="-122"/>
                <a:cs typeface="Arial" pitchFamily="34" charset="-120"/>
              </a:rPr>
              <a:t>5 of top 6</a:t>
            </a:r>
            <a:endParaRPr lang="en-US" sz="2000" dirty="0"/>
          </a:p>
          <a:p>
            <a:pPr indent="0" marL="0">
              <a:lnSpc>
                <a:spcPct val="115000"/>
              </a:lnSpc>
              <a:buNone/>
            </a:pPr>
            <a:r>
              <a:rPr lang="en-US" sz="1050" dirty="0">
                <a:solidFill>
                  <a:srgbClr val="E7E9F0"/>
                </a:solidFill>
                <a:latin typeface="Arial" pitchFamily="34" charset="0"/>
                <a:ea typeface="Arial" pitchFamily="34" charset="-122"/>
                <a:cs typeface="Arial" pitchFamily="34" charset="-120"/>
              </a:rPr>
              <a:t>Most-reviewed restaurants nationally (10,000 ratings each) are Hyderabad biryani houses - e.g. Mehfil, Bawarchi, Shah Ghouse Cafe.</a:t>
            </a:r>
            <a:endParaRPr lang="en-US" sz="2000" dirty="0"/>
          </a:p>
        </p:txBody>
      </p:sp>
      <p:sp>
        <p:nvSpPr>
          <p:cNvPr id="19" name="Text 16"/>
          <p:cNvSpPr/>
          <p:nvPr/>
        </p:nvSpPr>
        <p:spPr>
          <a:xfrm>
            <a:off x="457200" y="6547104"/>
            <a:ext cx="7315200" cy="256032"/>
          </a:xfrm>
          <a:prstGeom prst="rect">
            <a:avLst/>
          </a:prstGeom>
          <a:noFill/>
          <a:ln/>
        </p:spPr>
        <p:txBody>
          <a:bodyPr wrap="square" lIns="0" tIns="0" rIns="0" bIns="0" rtlCol="0" anchor="ctr"/>
          <a:lstStyle/>
          <a:p>
            <a:pPr indent="0" marL="0">
              <a:buNone/>
            </a:pPr>
            <a:r>
              <a:rPr lang="en-US" sz="900" dirty="0">
                <a:solidFill>
                  <a:srgbClr val="6B7280"/>
                </a:solidFill>
                <a:latin typeface="Arial" pitchFamily="34" charset="0"/>
                <a:ea typeface="Arial" pitchFamily="34" charset="-122"/>
                <a:cs typeface="Arial" pitchFamily="34" charset="-120"/>
              </a:rPr>
              <a:t>Swiggy Operations &amp; Performance Analysis</a:t>
            </a:r>
            <a:endParaRPr lang="en-US" sz="900" dirty="0"/>
          </a:p>
        </p:txBody>
      </p:sp>
      <p:sp>
        <p:nvSpPr>
          <p:cNvPr id="20" name="Text 17"/>
          <p:cNvSpPr/>
          <p:nvPr/>
        </p:nvSpPr>
        <p:spPr>
          <a:xfrm>
            <a:off x="11521440" y="6547104"/>
            <a:ext cx="274320" cy="256032"/>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82C3F"/>
        </a:solidFill>
      </p:bgPr>
    </p:bg>
    <p:spTree>
      <p:nvGrpSpPr>
        <p:cNvPr id="1" name=""/>
        <p:cNvGrpSpPr/>
        <p:nvPr/>
      </p:nvGrpSpPr>
      <p:grpSpPr>
        <a:xfrm>
          <a:off x="0" y="0"/>
          <a:ext cx="0" cy="0"/>
          <a:chOff x="0" y="0"/>
          <a:chExt cx="0" cy="0"/>
        </a:xfrm>
      </p:grpSpPr>
      <p:sp>
        <p:nvSpPr>
          <p:cNvPr id="2" name="Shape 0"/>
          <p:cNvSpPr/>
          <p:nvPr/>
        </p:nvSpPr>
        <p:spPr>
          <a:xfrm>
            <a:off x="457200" y="457200"/>
            <a:ext cx="502920" cy="502920"/>
          </a:xfrm>
          <a:prstGeom prst="ellipse">
            <a:avLst/>
          </a:prstGeom>
          <a:solidFill>
            <a:srgbClr val="FC8019"/>
          </a:solidFill>
          <a:ln/>
        </p:spPr>
      </p:sp>
      <p:sp>
        <p:nvSpPr>
          <p:cNvPr id="3" name="Text 1"/>
          <p:cNvSpPr/>
          <p:nvPr/>
        </p:nvSpPr>
        <p:spPr>
          <a:xfrm>
            <a:off x="457200" y="457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06</a:t>
            </a:r>
            <a:endParaRPr lang="en-US" sz="1800" dirty="0"/>
          </a:p>
        </p:txBody>
      </p:sp>
      <p:sp>
        <p:nvSpPr>
          <p:cNvPr id="4" name="Text 2"/>
          <p:cNvSpPr/>
          <p:nvPr/>
        </p:nvSpPr>
        <p:spPr>
          <a:xfrm>
            <a:off x="1097280" y="411480"/>
            <a:ext cx="10424160" cy="59436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Conclusion &amp; Business Recommendations</a:t>
            </a:r>
            <a:endParaRPr lang="en-US" sz="2600" dirty="0"/>
          </a:p>
        </p:txBody>
      </p:sp>
      <p:sp>
        <p:nvSpPr>
          <p:cNvPr id="5" name="Shape 3"/>
          <p:cNvSpPr/>
          <p:nvPr/>
        </p:nvSpPr>
        <p:spPr>
          <a:xfrm>
            <a:off x="640080" y="1234440"/>
            <a:ext cx="457200" cy="457200"/>
          </a:xfrm>
          <a:prstGeom prst="ellipse">
            <a:avLst/>
          </a:prstGeom>
          <a:solidFill>
            <a:srgbClr val="353A52"/>
          </a:solidFill>
          <a:ln/>
        </p:spPr>
      </p:sp>
      <p:sp>
        <p:nvSpPr>
          <p:cNvPr id="6" name="Text 4"/>
          <p:cNvSpPr/>
          <p:nvPr/>
        </p:nvSpPr>
        <p:spPr>
          <a:xfrm>
            <a:off x="640080" y="1234440"/>
            <a:ext cx="457200" cy="457200"/>
          </a:xfrm>
          <a:prstGeom prst="rect">
            <a:avLst/>
          </a:prstGeom>
          <a:noFill/>
          <a:ln/>
        </p:spPr>
        <p:txBody>
          <a:bodyPr wrap="square" lIns="0" tIns="0" rIns="0" bIns="0" rtlCol="0" anchor="ctr"/>
          <a:lstStyle/>
          <a:p>
            <a:pPr algn="ctr" indent="0" marL="0">
              <a:buNone/>
            </a:pPr>
            <a:r>
              <a:rPr lang="en-US" sz="1600" b="1" dirty="0">
                <a:solidFill>
                  <a:srgbClr val="FC8019"/>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280160" y="1179576"/>
            <a:ext cx="102412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Close the Kolkata delivery gap</a:t>
            </a:r>
            <a:endParaRPr lang="en-US" sz="1500" dirty="0"/>
          </a:p>
        </p:txBody>
      </p:sp>
      <p:sp>
        <p:nvSpPr>
          <p:cNvPr id="8" name="Text 6"/>
          <p:cNvSpPr/>
          <p:nvPr/>
        </p:nvSpPr>
        <p:spPr>
          <a:xfrm>
            <a:off x="1280160" y="1508760"/>
            <a:ext cx="10241280" cy="457200"/>
          </a:xfrm>
          <a:prstGeom prst="rect">
            <a:avLst/>
          </a:prstGeom>
          <a:noFill/>
          <a:ln/>
        </p:spPr>
        <p:txBody>
          <a:bodyPr wrap="square" lIns="0" tIns="0" rIns="0" bIns="0" rtlCol="0" anchor="ctr"/>
          <a:lstStyle/>
          <a:p>
            <a:pPr indent="0" marL="0">
              <a:buNone/>
            </a:pPr>
            <a:r>
              <a:rPr lang="en-US" sz="1200" dirty="0">
                <a:solidFill>
                  <a:srgbClr val="C7CBD9"/>
                </a:solidFill>
                <a:latin typeface="Arial" pitchFamily="34" charset="0"/>
                <a:ea typeface="Arial" pitchFamily="34" charset="-122"/>
                <a:cs typeface="Arial" pitchFamily="34" charset="-120"/>
              </a:rPr>
              <a:t>Deploy added rider capacity / dark-store hubs in Jadavpur, Alipore &amp; Dumdum to shrink the 23-min gap with Ahmedabad.</a:t>
            </a:r>
            <a:endParaRPr lang="en-US" sz="1200" dirty="0"/>
          </a:p>
        </p:txBody>
      </p:sp>
      <p:sp>
        <p:nvSpPr>
          <p:cNvPr id="9" name="Shape 7"/>
          <p:cNvSpPr/>
          <p:nvPr/>
        </p:nvSpPr>
        <p:spPr>
          <a:xfrm>
            <a:off x="640080" y="2167128"/>
            <a:ext cx="457200" cy="457200"/>
          </a:xfrm>
          <a:prstGeom prst="ellipse">
            <a:avLst/>
          </a:prstGeom>
          <a:solidFill>
            <a:srgbClr val="353A52"/>
          </a:solidFill>
          <a:ln/>
        </p:spPr>
      </p:sp>
      <p:sp>
        <p:nvSpPr>
          <p:cNvPr id="10" name="Text 8"/>
          <p:cNvSpPr/>
          <p:nvPr/>
        </p:nvSpPr>
        <p:spPr>
          <a:xfrm>
            <a:off x="640080" y="2167128"/>
            <a:ext cx="457200" cy="457200"/>
          </a:xfrm>
          <a:prstGeom prst="rect">
            <a:avLst/>
          </a:prstGeom>
          <a:noFill/>
          <a:ln/>
        </p:spPr>
        <p:txBody>
          <a:bodyPr wrap="square" lIns="0" tIns="0" rIns="0" bIns="0" rtlCol="0" anchor="ctr"/>
          <a:lstStyle/>
          <a:p>
            <a:pPr algn="ctr" indent="0" marL="0">
              <a:buNone/>
            </a:pPr>
            <a:r>
              <a:rPr lang="en-US" sz="1600" b="1" dirty="0">
                <a:solidFill>
                  <a:srgbClr val="FC8019"/>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1280160" y="2112264"/>
            <a:ext cx="102412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Set a platform-wide SLA target</a:t>
            </a:r>
            <a:endParaRPr lang="en-US" sz="1500" dirty="0"/>
          </a:p>
        </p:txBody>
      </p:sp>
      <p:sp>
        <p:nvSpPr>
          <p:cNvPr id="12" name="Text 10"/>
          <p:cNvSpPr/>
          <p:nvPr/>
        </p:nvSpPr>
        <p:spPr>
          <a:xfrm>
            <a:off x="1280160" y="2441448"/>
            <a:ext cx="10241280" cy="457200"/>
          </a:xfrm>
          <a:prstGeom prst="rect">
            <a:avLst/>
          </a:prstGeom>
          <a:noFill/>
          <a:ln/>
        </p:spPr>
        <p:txBody>
          <a:bodyPr wrap="square" lIns="0" tIns="0" rIns="0" bIns="0" rtlCol="0" anchor="ctr"/>
          <a:lstStyle/>
          <a:p>
            <a:pPr indent="0" marL="0">
              <a:buNone/>
            </a:pPr>
            <a:r>
              <a:rPr lang="en-US" sz="1200" dirty="0">
                <a:solidFill>
                  <a:srgbClr val="C7CBD9"/>
                </a:solidFill>
                <a:latin typeface="Arial" pitchFamily="34" charset="0"/>
                <a:ea typeface="Arial" pitchFamily="34" charset="-122"/>
                <a:cs typeface="Arial" pitchFamily="34" charset="-120"/>
              </a:rPr>
              <a:t>Target &lt;=45 min delivery; the current 30.9% breach rate above 60 min is a tangible churn risk.</a:t>
            </a:r>
            <a:endParaRPr lang="en-US" sz="1200" dirty="0"/>
          </a:p>
        </p:txBody>
      </p:sp>
      <p:sp>
        <p:nvSpPr>
          <p:cNvPr id="13" name="Shape 11"/>
          <p:cNvSpPr/>
          <p:nvPr/>
        </p:nvSpPr>
        <p:spPr>
          <a:xfrm>
            <a:off x="640080" y="3099816"/>
            <a:ext cx="457200" cy="457200"/>
          </a:xfrm>
          <a:prstGeom prst="ellipse">
            <a:avLst/>
          </a:prstGeom>
          <a:solidFill>
            <a:srgbClr val="353A52"/>
          </a:solidFill>
          <a:ln/>
        </p:spPr>
      </p:sp>
      <p:sp>
        <p:nvSpPr>
          <p:cNvPr id="14" name="Text 12"/>
          <p:cNvSpPr/>
          <p:nvPr/>
        </p:nvSpPr>
        <p:spPr>
          <a:xfrm>
            <a:off x="640080" y="3099816"/>
            <a:ext cx="457200" cy="457200"/>
          </a:xfrm>
          <a:prstGeom prst="rect">
            <a:avLst/>
          </a:prstGeom>
          <a:noFill/>
          <a:ln/>
        </p:spPr>
        <p:txBody>
          <a:bodyPr wrap="square" lIns="0" tIns="0" rIns="0" bIns="0" rtlCol="0" anchor="ctr"/>
          <a:lstStyle/>
          <a:p>
            <a:pPr algn="ctr" indent="0" marL="0">
              <a:buNone/>
            </a:pPr>
            <a:r>
              <a:rPr lang="en-US" sz="1600" b="1" dirty="0">
                <a:solidFill>
                  <a:srgbClr val="FC8019"/>
                </a:solidFill>
                <a:latin typeface="Arial" pitchFamily="34" charset="0"/>
                <a:ea typeface="Arial" pitchFamily="34" charset="-122"/>
                <a:cs typeface="Arial" pitchFamily="34" charset="-120"/>
              </a:rPr>
              <a:t>3</a:t>
            </a:r>
            <a:endParaRPr lang="en-US" sz="1600" dirty="0"/>
          </a:p>
        </p:txBody>
      </p:sp>
      <p:sp>
        <p:nvSpPr>
          <p:cNvPr id="15" name="Text 13"/>
          <p:cNvSpPr/>
          <p:nvPr/>
        </p:nvSpPr>
        <p:spPr>
          <a:xfrm>
            <a:off x="1280160" y="3044952"/>
            <a:ext cx="102412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Launch a restaurant quality program</a:t>
            </a:r>
            <a:endParaRPr lang="en-US" sz="1500" dirty="0"/>
          </a:p>
        </p:txBody>
      </p:sp>
      <p:sp>
        <p:nvSpPr>
          <p:cNvPr id="16" name="Text 14"/>
          <p:cNvSpPr/>
          <p:nvPr/>
        </p:nvSpPr>
        <p:spPr>
          <a:xfrm>
            <a:off x="1280160" y="3374136"/>
            <a:ext cx="10241280" cy="457200"/>
          </a:xfrm>
          <a:prstGeom prst="rect">
            <a:avLst/>
          </a:prstGeom>
          <a:noFill/>
          <a:ln/>
        </p:spPr>
        <p:txBody>
          <a:bodyPr wrap="square" lIns="0" tIns="0" rIns="0" bIns="0" rtlCol="0" anchor="ctr"/>
          <a:lstStyle/>
          <a:p>
            <a:pPr indent="0" marL="0">
              <a:buNone/>
            </a:pPr>
            <a:r>
              <a:rPr lang="en-US" sz="1200" dirty="0">
                <a:solidFill>
                  <a:srgbClr val="C7CBD9"/>
                </a:solidFill>
                <a:latin typeface="Arial" pitchFamily="34" charset="0"/>
                <a:ea typeface="Arial" pitchFamily="34" charset="-122"/>
                <a:cs typeface="Arial" pitchFamily="34" charset="-120"/>
              </a:rPr>
              <a:t>Prioritize the 40.6% of restaurants rated below 3.5, starting with high-price / low-rating outliers.</a:t>
            </a:r>
            <a:endParaRPr lang="en-US" sz="1200" dirty="0"/>
          </a:p>
        </p:txBody>
      </p:sp>
      <p:sp>
        <p:nvSpPr>
          <p:cNvPr id="17" name="Shape 15"/>
          <p:cNvSpPr/>
          <p:nvPr/>
        </p:nvSpPr>
        <p:spPr>
          <a:xfrm>
            <a:off x="640080" y="4032504"/>
            <a:ext cx="457200" cy="457200"/>
          </a:xfrm>
          <a:prstGeom prst="ellipse">
            <a:avLst/>
          </a:prstGeom>
          <a:solidFill>
            <a:srgbClr val="353A52"/>
          </a:solidFill>
          <a:ln/>
        </p:spPr>
      </p:sp>
      <p:sp>
        <p:nvSpPr>
          <p:cNvPr id="18" name="Text 16"/>
          <p:cNvSpPr/>
          <p:nvPr/>
        </p:nvSpPr>
        <p:spPr>
          <a:xfrm>
            <a:off x="640080" y="4032504"/>
            <a:ext cx="457200" cy="457200"/>
          </a:xfrm>
          <a:prstGeom prst="rect">
            <a:avLst/>
          </a:prstGeom>
          <a:noFill/>
          <a:ln/>
        </p:spPr>
        <p:txBody>
          <a:bodyPr wrap="square" lIns="0" tIns="0" rIns="0" bIns="0" rtlCol="0" anchor="ctr"/>
          <a:lstStyle/>
          <a:p>
            <a:pPr algn="ctr" indent="0" marL="0">
              <a:buNone/>
            </a:pPr>
            <a:r>
              <a:rPr lang="en-US" sz="1600" b="1" dirty="0">
                <a:solidFill>
                  <a:srgbClr val="FC8019"/>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1280160" y="3977640"/>
            <a:ext cx="102412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Double down on high-demand cuisines</a:t>
            </a:r>
            <a:endParaRPr lang="en-US" sz="1500" dirty="0"/>
          </a:p>
        </p:txBody>
      </p:sp>
      <p:sp>
        <p:nvSpPr>
          <p:cNvPr id="20" name="Text 18"/>
          <p:cNvSpPr/>
          <p:nvPr/>
        </p:nvSpPr>
        <p:spPr>
          <a:xfrm>
            <a:off x="1280160" y="4306824"/>
            <a:ext cx="10241280" cy="457200"/>
          </a:xfrm>
          <a:prstGeom prst="rect">
            <a:avLst/>
          </a:prstGeom>
          <a:noFill/>
          <a:ln/>
        </p:spPr>
        <p:txBody>
          <a:bodyPr wrap="square" lIns="0" tIns="0" rIns="0" bIns="0" rtlCol="0" anchor="ctr"/>
          <a:lstStyle/>
          <a:p>
            <a:pPr indent="0" marL="0">
              <a:buNone/>
            </a:pPr>
            <a:r>
              <a:rPr lang="en-US" sz="1200" dirty="0">
                <a:solidFill>
                  <a:srgbClr val="C7CBD9"/>
                </a:solidFill>
                <a:latin typeface="Arial" pitchFamily="34" charset="0"/>
                <a:ea typeface="Arial" pitchFamily="34" charset="-122"/>
                <a:cs typeface="Arial" pitchFamily="34" charset="-120"/>
              </a:rPr>
              <a:t>Run city-specific promotions around Chinese, North Indian &amp; Biryani, the platform's top-demand categories.</a:t>
            </a:r>
            <a:endParaRPr lang="en-US" sz="1200" dirty="0"/>
          </a:p>
        </p:txBody>
      </p:sp>
      <p:sp>
        <p:nvSpPr>
          <p:cNvPr id="21" name="Shape 19"/>
          <p:cNvSpPr/>
          <p:nvPr/>
        </p:nvSpPr>
        <p:spPr>
          <a:xfrm>
            <a:off x="640080" y="4965192"/>
            <a:ext cx="457200" cy="457200"/>
          </a:xfrm>
          <a:prstGeom prst="ellipse">
            <a:avLst/>
          </a:prstGeom>
          <a:solidFill>
            <a:srgbClr val="353A52"/>
          </a:solidFill>
          <a:ln/>
        </p:spPr>
      </p:sp>
      <p:sp>
        <p:nvSpPr>
          <p:cNvPr id="22" name="Text 20"/>
          <p:cNvSpPr/>
          <p:nvPr/>
        </p:nvSpPr>
        <p:spPr>
          <a:xfrm>
            <a:off x="640080" y="4965192"/>
            <a:ext cx="457200" cy="457200"/>
          </a:xfrm>
          <a:prstGeom prst="rect">
            <a:avLst/>
          </a:prstGeom>
          <a:noFill/>
          <a:ln/>
        </p:spPr>
        <p:txBody>
          <a:bodyPr wrap="square" lIns="0" tIns="0" rIns="0" bIns="0" rtlCol="0" anchor="ctr"/>
          <a:lstStyle/>
          <a:p>
            <a:pPr algn="ctr" indent="0" marL="0">
              <a:buNone/>
            </a:pPr>
            <a:r>
              <a:rPr lang="en-US" sz="1600" b="1" dirty="0">
                <a:solidFill>
                  <a:srgbClr val="FC8019"/>
                </a:solidFill>
                <a:latin typeface="Arial" pitchFamily="34" charset="0"/>
                <a:ea typeface="Arial" pitchFamily="34" charset="-122"/>
                <a:cs typeface="Arial" pitchFamily="34" charset="-120"/>
              </a:rPr>
              <a:t>5</a:t>
            </a:r>
            <a:endParaRPr lang="en-US" sz="1600" dirty="0"/>
          </a:p>
        </p:txBody>
      </p:sp>
      <p:sp>
        <p:nvSpPr>
          <p:cNvPr id="23" name="Text 21"/>
          <p:cNvSpPr/>
          <p:nvPr/>
        </p:nvSpPr>
        <p:spPr>
          <a:xfrm>
            <a:off x="1280160" y="4910328"/>
            <a:ext cx="1024128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Capture richer operational data</a:t>
            </a:r>
            <a:endParaRPr lang="en-US" sz="1500" dirty="0"/>
          </a:p>
        </p:txBody>
      </p:sp>
      <p:sp>
        <p:nvSpPr>
          <p:cNvPr id="24" name="Text 22"/>
          <p:cNvSpPr/>
          <p:nvPr/>
        </p:nvSpPr>
        <p:spPr>
          <a:xfrm>
            <a:off x="1280160" y="5239512"/>
            <a:ext cx="10241280" cy="457200"/>
          </a:xfrm>
          <a:prstGeom prst="rect">
            <a:avLst/>
          </a:prstGeom>
          <a:noFill/>
          <a:ln/>
        </p:spPr>
        <p:txBody>
          <a:bodyPr wrap="square" lIns="0" tIns="0" rIns="0" bIns="0" rtlCol="0" anchor="ctr"/>
          <a:lstStyle/>
          <a:p>
            <a:pPr indent="0" marL="0">
              <a:buNone/>
            </a:pPr>
            <a:r>
              <a:rPr lang="en-US" sz="1200" dirty="0">
                <a:solidFill>
                  <a:srgbClr val="C7CBD9"/>
                </a:solidFill>
                <a:latin typeface="Arial" pitchFamily="34" charset="0"/>
                <a:ea typeface="Arial" pitchFamily="34" charset="-122"/>
                <a:cs typeface="Arial" pitchFamily="34" charset="-120"/>
              </a:rPr>
              <a:t>Add order timestamps &amp; cancellation flags to enable true peak-hour and churn analysis in future iterations.</a:t>
            </a:r>
            <a:endParaRPr lang="en-US" sz="1200" dirty="0"/>
          </a:p>
        </p:txBody>
      </p:sp>
      <p:sp>
        <p:nvSpPr>
          <p:cNvPr id="25" name="Shape 23"/>
          <p:cNvSpPr/>
          <p:nvPr/>
        </p:nvSpPr>
        <p:spPr>
          <a:xfrm>
            <a:off x="640080" y="5943600"/>
            <a:ext cx="10881360" cy="0"/>
          </a:xfrm>
          <a:prstGeom prst="line">
            <a:avLst/>
          </a:prstGeom>
          <a:noFill/>
          <a:ln w="12700">
            <a:solidFill>
              <a:srgbClr val="3F4459"/>
            </a:solidFill>
            <a:prstDash val="solid"/>
          </a:ln>
        </p:spPr>
      </p:sp>
      <p:sp>
        <p:nvSpPr>
          <p:cNvPr id="26" name="Text 24"/>
          <p:cNvSpPr/>
          <p:nvPr/>
        </p:nvSpPr>
        <p:spPr>
          <a:xfrm>
            <a:off x="640080" y="6080760"/>
            <a:ext cx="10881360" cy="365760"/>
          </a:xfrm>
          <a:prstGeom prst="rect">
            <a:avLst/>
          </a:prstGeom>
          <a:noFill/>
          <a:ln/>
        </p:spPr>
        <p:txBody>
          <a:bodyPr wrap="square" lIns="0" tIns="0" rIns="0" bIns="0" rtlCol="0" anchor="ctr"/>
          <a:lstStyle/>
          <a:p>
            <a:pPr algn="ctr" indent="0" marL="0">
              <a:buNone/>
            </a:pPr>
            <a:r>
              <a:rPr lang="en-US" sz="1200" dirty="0">
                <a:solidFill>
                  <a:srgbClr val="9DA3B4"/>
                </a:solidFill>
                <a:latin typeface="Arial" pitchFamily="34" charset="0"/>
                <a:ea typeface="Arial" pitchFamily="34" charset="-122"/>
                <a:cs typeface="Arial" pitchFamily="34" charset="-120"/>
              </a:rPr>
              <a:t>Thank you  |  Vinit Sharma  |  B.Tech CSE, 3rd Year, Arya College of Engineering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Swiggy Food Delivery: Operations &amp; Performance Analysis</dc:title>
  <dc:subject>PptxGenJS Presentation</dc:subject>
  <dc:creator>Vinit Sharma</dc:creator>
  <cp:lastModifiedBy>Vinit Sharma</cp:lastModifiedBy>
  <cp:revision>1</cp:revision>
  <dcterms:created xsi:type="dcterms:W3CDTF">2026-09-26T01:31:36Z</dcterms:created>
  <dcterms:modified xsi:type="dcterms:W3CDTF">2026-09-26T01:31:36Z</dcterms:modified>
</cp:coreProperties>
</file>